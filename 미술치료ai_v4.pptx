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1" r:id="rId8"/>
    <p:sldId id="259" r:id="rId9"/>
    <p:sldId id="260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9" autoAdjust="0"/>
    <p:restoredTop sz="94660"/>
  </p:normalViewPr>
  <p:slideViewPr>
    <p:cSldViewPr snapToGrid="0">
      <p:cViewPr varScale="1">
        <p:scale>
          <a:sx n="76" d="100"/>
          <a:sy n="76" d="100"/>
        </p:scale>
        <p:origin x="114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C970-843A-4A89-83C6-E77EBDB65061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866A-158C-41ED-9CB0-A9F7BC8C5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501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C970-843A-4A89-83C6-E77EBDB65061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866A-158C-41ED-9CB0-A9F7BC8C5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020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C970-843A-4A89-83C6-E77EBDB65061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866A-158C-41ED-9CB0-A9F7BC8C5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1886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C970-843A-4A89-83C6-E77EBDB65061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866A-158C-41ED-9CB0-A9F7BC8C5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2887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C970-843A-4A89-83C6-E77EBDB65061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866A-158C-41ED-9CB0-A9F7BC8C5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958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C970-843A-4A89-83C6-E77EBDB65061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866A-158C-41ED-9CB0-A9F7BC8C5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161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C970-843A-4A89-83C6-E77EBDB65061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866A-158C-41ED-9CB0-A9F7BC8C5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512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C970-843A-4A89-83C6-E77EBDB65061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866A-158C-41ED-9CB0-A9F7BC8C5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22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C970-843A-4A89-83C6-E77EBDB65061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866A-158C-41ED-9CB0-A9F7BC8C5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57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C970-843A-4A89-83C6-E77EBDB65061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866A-158C-41ED-9CB0-A9F7BC8C5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6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C970-843A-4A89-83C6-E77EBDB65061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866A-158C-41ED-9CB0-A9F7BC8C5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909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7C970-843A-4A89-83C6-E77EBDB65061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0866A-158C-41ED-9CB0-A9F7BC8C5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8811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474263"/>
              </p:ext>
            </p:extLst>
          </p:nvPr>
        </p:nvGraphicFramePr>
        <p:xfrm>
          <a:off x="209724" y="637565"/>
          <a:ext cx="11811704" cy="5830346"/>
        </p:xfrm>
        <a:graphic>
          <a:graphicData uri="http://schemas.openxmlformats.org/drawingml/2006/table">
            <a:tbl>
              <a:tblPr/>
              <a:tblGrid>
                <a:gridCol w="1476463">
                  <a:extLst>
                    <a:ext uri="{9D8B030D-6E8A-4147-A177-3AD203B41FA5}">
                      <a16:colId xmlns:a16="http://schemas.microsoft.com/office/drawing/2014/main" val="304080515"/>
                    </a:ext>
                  </a:extLst>
                </a:gridCol>
                <a:gridCol w="1476463">
                  <a:extLst>
                    <a:ext uri="{9D8B030D-6E8A-4147-A177-3AD203B41FA5}">
                      <a16:colId xmlns:a16="http://schemas.microsoft.com/office/drawing/2014/main" val="2890930757"/>
                    </a:ext>
                  </a:extLst>
                </a:gridCol>
                <a:gridCol w="1476463">
                  <a:extLst>
                    <a:ext uri="{9D8B030D-6E8A-4147-A177-3AD203B41FA5}">
                      <a16:colId xmlns:a16="http://schemas.microsoft.com/office/drawing/2014/main" val="1752873524"/>
                    </a:ext>
                  </a:extLst>
                </a:gridCol>
                <a:gridCol w="1476463">
                  <a:extLst>
                    <a:ext uri="{9D8B030D-6E8A-4147-A177-3AD203B41FA5}">
                      <a16:colId xmlns:a16="http://schemas.microsoft.com/office/drawing/2014/main" val="1758077816"/>
                    </a:ext>
                  </a:extLst>
                </a:gridCol>
                <a:gridCol w="1476463">
                  <a:extLst>
                    <a:ext uri="{9D8B030D-6E8A-4147-A177-3AD203B41FA5}">
                      <a16:colId xmlns:a16="http://schemas.microsoft.com/office/drawing/2014/main" val="231380968"/>
                    </a:ext>
                  </a:extLst>
                </a:gridCol>
                <a:gridCol w="1476463">
                  <a:extLst>
                    <a:ext uri="{9D8B030D-6E8A-4147-A177-3AD203B41FA5}">
                      <a16:colId xmlns:a16="http://schemas.microsoft.com/office/drawing/2014/main" val="1140088766"/>
                    </a:ext>
                  </a:extLst>
                </a:gridCol>
                <a:gridCol w="1476463">
                  <a:extLst>
                    <a:ext uri="{9D8B030D-6E8A-4147-A177-3AD203B41FA5}">
                      <a16:colId xmlns:a16="http://schemas.microsoft.com/office/drawing/2014/main" val="3012512632"/>
                    </a:ext>
                  </a:extLst>
                </a:gridCol>
                <a:gridCol w="1476463">
                  <a:extLst>
                    <a:ext uri="{9D8B030D-6E8A-4147-A177-3AD203B41FA5}">
                      <a16:colId xmlns:a16="http://schemas.microsoft.com/office/drawing/2014/main" val="3851192230"/>
                    </a:ext>
                  </a:extLst>
                </a:gridCol>
              </a:tblGrid>
              <a:tr h="40209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latin typeface="+mn-lt"/>
                        </a:rPr>
                        <a:t>계층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latin typeface="+mn-lt"/>
                        </a:rPr>
                        <a:t>컴포넌트</a:t>
                      </a:r>
                      <a:r>
                        <a:rPr lang="en-US" altLang="ko-KR" sz="1050" b="1" dirty="0">
                          <a:latin typeface="+mn-lt"/>
                        </a:rPr>
                        <a:t>(</a:t>
                      </a:r>
                      <a:r>
                        <a:rPr lang="ko-KR" altLang="en-US" sz="1050" b="1" dirty="0">
                          <a:latin typeface="+mn-lt"/>
                        </a:rPr>
                        <a:t>코드</a:t>
                      </a:r>
                      <a:r>
                        <a:rPr lang="en-US" altLang="ko-KR" sz="1050" b="1" dirty="0">
                          <a:latin typeface="+mn-lt"/>
                        </a:rPr>
                        <a:t>/</a:t>
                      </a:r>
                      <a:r>
                        <a:rPr lang="ko-KR" altLang="en-US" sz="1050" b="1" dirty="0">
                          <a:latin typeface="+mn-lt"/>
                        </a:rPr>
                        <a:t>객체</a:t>
                      </a:r>
                      <a:r>
                        <a:rPr lang="en-US" altLang="ko-KR" sz="1050" b="1" dirty="0">
                          <a:latin typeface="+mn-lt"/>
                        </a:rPr>
                        <a:t>)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latin typeface="+mn-lt"/>
                        </a:rPr>
                        <a:t>사용 모델</a:t>
                      </a:r>
                      <a:r>
                        <a:rPr lang="en-US" altLang="ko-KR" sz="1050" b="1" dirty="0">
                          <a:latin typeface="+mn-lt"/>
                        </a:rPr>
                        <a:t>/</a:t>
                      </a:r>
                      <a:r>
                        <a:rPr lang="ko-KR" altLang="en-US" sz="1050" b="1" dirty="0">
                          <a:latin typeface="+mn-lt"/>
                        </a:rPr>
                        <a:t>라이브러리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latin typeface="+mn-lt"/>
                        </a:rPr>
                        <a:t>역할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latin typeface="+mn-lt"/>
                        </a:rPr>
                        <a:t>입력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latin typeface="+mn-lt"/>
                        </a:rPr>
                        <a:t>핵심 처리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latin typeface="+mn-lt"/>
                        </a:rPr>
                        <a:t>출력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latin typeface="+mn-lt"/>
                        </a:rPr>
                        <a:t>비고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732843"/>
                  </a:ext>
                </a:extLst>
              </a:tr>
              <a:tr h="643349"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latin typeface="+mn-lt"/>
                        </a:rPr>
                        <a:t>엔진</a:t>
                      </a:r>
                      <a:r>
                        <a:rPr lang="en-US" altLang="ko-KR" sz="1050" dirty="0">
                          <a:latin typeface="+mn-lt"/>
                        </a:rPr>
                        <a:t>(</a:t>
                      </a:r>
                      <a:r>
                        <a:rPr lang="ko-KR" altLang="en-US" sz="1050" dirty="0">
                          <a:latin typeface="+mn-lt"/>
                        </a:rPr>
                        <a:t>오케스트레이션</a:t>
                      </a:r>
                      <a:r>
                        <a:rPr lang="en-US" altLang="ko-KR" sz="1050" dirty="0">
                          <a:latin typeface="+mn-lt"/>
                        </a:rPr>
                        <a:t>)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err="1">
                          <a:latin typeface="+mn-lt"/>
                        </a:rPr>
                        <a:t>ArtTherapyModel</a:t>
                      </a:r>
                      <a:endParaRPr lang="en-US" sz="1050" dirty="0">
                        <a:latin typeface="+mn-lt"/>
                      </a:endParaRP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Python class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>
                          <a:latin typeface="+mn-lt"/>
                        </a:rPr>
                        <a:t>파이프라인 로딩</a:t>
                      </a:r>
                      <a:r>
                        <a:rPr lang="en-US" altLang="ko-KR" sz="1050">
                          <a:latin typeface="+mn-lt"/>
                        </a:rPr>
                        <a:t>/</a:t>
                      </a:r>
                      <a:r>
                        <a:rPr lang="ko-KR" altLang="en-US" sz="1050">
                          <a:latin typeface="+mn-lt"/>
                        </a:rPr>
                        <a:t>추론</a:t>
                      </a:r>
                      <a:r>
                        <a:rPr lang="en-US" altLang="ko-KR" sz="1050">
                          <a:latin typeface="+mn-lt"/>
                        </a:rPr>
                        <a:t>/</a:t>
                      </a:r>
                      <a:r>
                        <a:rPr lang="ko-KR" altLang="en-US" sz="1050">
                          <a:latin typeface="+mn-lt"/>
                        </a:rPr>
                        <a:t>메모리 관리 총괄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device, low_vram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>
                          <a:latin typeface="+mn-lt"/>
                        </a:rPr>
                        <a:t>지연 로딩</a:t>
                      </a:r>
                      <a:r>
                        <a:rPr lang="en-US" altLang="ko-KR" sz="1050">
                          <a:latin typeface="+mn-lt"/>
                        </a:rPr>
                        <a:t>(</a:t>
                      </a:r>
                      <a:r>
                        <a:rPr lang="en-US" sz="1050">
                          <a:latin typeface="+mn-lt"/>
                        </a:rPr>
                        <a:t>lazy loading), CPU offload </a:t>
                      </a:r>
                      <a:r>
                        <a:rPr lang="ko-KR" altLang="en-US" sz="1050">
                          <a:latin typeface="+mn-lt"/>
                        </a:rPr>
                        <a:t>옵션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>
                          <a:latin typeface="+mn-lt"/>
                        </a:rPr>
                        <a:t>생성 이미지</a:t>
                      </a:r>
                      <a:r>
                        <a:rPr lang="en-US" altLang="ko-KR" sz="1050">
                          <a:latin typeface="+mn-lt"/>
                        </a:rPr>
                        <a:t>/</a:t>
                      </a:r>
                      <a:r>
                        <a:rPr lang="ko-KR" altLang="en-US" sz="1050">
                          <a:latin typeface="+mn-lt"/>
                        </a:rPr>
                        <a:t>엣지맵</a:t>
                      </a:r>
                      <a:r>
                        <a:rPr lang="en-US" altLang="ko-KR" sz="1050">
                          <a:latin typeface="+mn-lt"/>
                        </a:rPr>
                        <a:t>/</a:t>
                      </a:r>
                      <a:r>
                        <a:rPr lang="ko-KR" altLang="en-US" sz="1050">
                          <a:latin typeface="+mn-lt"/>
                        </a:rPr>
                        <a:t>인페인팅 결과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low_vram=True</a:t>
                      </a:r>
                      <a:r>
                        <a:rPr lang="ko-KR" altLang="en-US" sz="1050">
                          <a:latin typeface="+mn-lt"/>
                        </a:rPr>
                        <a:t>면 </a:t>
                      </a:r>
                      <a:r>
                        <a:rPr lang="en-US" sz="1050">
                          <a:latin typeface="+mn-lt"/>
                        </a:rPr>
                        <a:t>pipeline </a:t>
                      </a:r>
                      <a:r>
                        <a:rPr lang="ko-KR" altLang="en-US" sz="1050">
                          <a:latin typeface="+mn-lt"/>
                        </a:rPr>
                        <a:t>정리 후 </a:t>
                      </a:r>
                      <a:r>
                        <a:rPr lang="en-US" sz="1050">
                          <a:latin typeface="+mn-lt"/>
                        </a:rPr>
                        <a:t>inpaint </a:t>
                      </a:r>
                      <a:r>
                        <a:rPr lang="ko-KR" altLang="en-US" sz="1050">
                          <a:latin typeface="+mn-lt"/>
                        </a:rPr>
                        <a:t>로딩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654176"/>
                  </a:ext>
                </a:extLst>
              </a:tr>
              <a:tr h="763976"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latin typeface="+mn-lt"/>
                        </a:rPr>
                        <a:t>전처리</a:t>
                      </a:r>
                      <a:r>
                        <a:rPr lang="en-US" altLang="ko-KR" sz="1050" dirty="0">
                          <a:latin typeface="+mn-lt"/>
                        </a:rPr>
                        <a:t>(</a:t>
                      </a:r>
                      <a:r>
                        <a:rPr lang="ko-KR" altLang="en-US" sz="1050" dirty="0" err="1">
                          <a:latin typeface="+mn-lt"/>
                        </a:rPr>
                        <a:t>스케치→조건</a:t>
                      </a:r>
                      <a:r>
                        <a:rPr lang="en-US" altLang="ko-KR" sz="1050" dirty="0">
                          <a:latin typeface="+mn-lt"/>
                        </a:rPr>
                        <a:t>)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PidiNetDetector (self.pidinet)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err="1">
                          <a:latin typeface="+mn-lt"/>
                        </a:rPr>
                        <a:t>controlnet_aux.pidi</a:t>
                      </a:r>
                      <a:r>
                        <a:rPr lang="en-US" sz="1050" dirty="0">
                          <a:latin typeface="+mn-lt"/>
                        </a:rPr>
                        <a:t> / Annotators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latin typeface="+mn-lt"/>
                        </a:rPr>
                        <a:t>스케치에서 </a:t>
                      </a:r>
                      <a:r>
                        <a:rPr lang="ko-KR" altLang="en-US" sz="1050" dirty="0" err="1">
                          <a:latin typeface="+mn-lt"/>
                        </a:rPr>
                        <a:t>엣지맵</a:t>
                      </a:r>
                      <a:r>
                        <a:rPr lang="ko-KR" altLang="en-US" sz="1050" dirty="0">
                          <a:latin typeface="+mn-lt"/>
                        </a:rPr>
                        <a:t> 생성</a:t>
                      </a:r>
                      <a:r>
                        <a:rPr lang="en-US" altLang="ko-KR" sz="1050" dirty="0">
                          <a:latin typeface="+mn-lt"/>
                        </a:rPr>
                        <a:t>(</a:t>
                      </a:r>
                      <a:r>
                        <a:rPr lang="ko-KR" altLang="en-US" sz="1050" dirty="0">
                          <a:latin typeface="+mn-lt"/>
                        </a:rPr>
                        <a:t>조건 이미지</a:t>
                      </a:r>
                      <a:r>
                        <a:rPr lang="en-US" altLang="ko-KR" sz="1050" dirty="0">
                          <a:latin typeface="+mn-lt"/>
                        </a:rPr>
                        <a:t>)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sketch_image(PIL)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RGB </a:t>
                      </a:r>
                      <a:r>
                        <a:rPr lang="ko-KR" altLang="en-US" sz="1050">
                          <a:latin typeface="+mn-lt"/>
                        </a:rPr>
                        <a:t>변환</a:t>
                      </a:r>
                      <a:r>
                        <a:rPr lang="en-US" altLang="ko-KR" sz="1050">
                          <a:latin typeface="+mn-lt"/>
                        </a:rPr>
                        <a:t>, 1024 </a:t>
                      </a:r>
                      <a:r>
                        <a:rPr lang="ko-KR" altLang="en-US" sz="1050">
                          <a:latin typeface="+mn-lt"/>
                        </a:rPr>
                        <a:t>리사이즈</a:t>
                      </a:r>
                      <a:r>
                        <a:rPr lang="en-US" altLang="ko-KR" sz="1050">
                          <a:latin typeface="+mn-lt"/>
                        </a:rPr>
                        <a:t>, </a:t>
                      </a:r>
                      <a:r>
                        <a:rPr lang="en-US" sz="1050">
                          <a:latin typeface="+mn-lt"/>
                        </a:rPr>
                        <a:t>pidinet(...apply_filter=True)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edge_map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>
                          <a:latin typeface="+mn-lt"/>
                        </a:rPr>
                        <a:t>생성 파이프라인의 조건 입력으로 사용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951649"/>
                  </a:ext>
                </a:extLst>
              </a:tr>
              <a:tr h="643349"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latin typeface="+mn-lt"/>
                        </a:rPr>
                        <a:t>생성</a:t>
                      </a:r>
                      <a:r>
                        <a:rPr lang="en-US" altLang="ko-KR" sz="1050" dirty="0">
                          <a:latin typeface="+mn-lt"/>
                        </a:rPr>
                        <a:t>(</a:t>
                      </a:r>
                      <a:r>
                        <a:rPr lang="ko-KR" altLang="en-US" sz="1050" dirty="0">
                          <a:latin typeface="+mn-lt"/>
                        </a:rPr>
                        <a:t>텍스트</a:t>
                      </a:r>
                      <a:r>
                        <a:rPr lang="en-US" altLang="ko-KR" sz="1050" dirty="0">
                          <a:latin typeface="+mn-lt"/>
                        </a:rPr>
                        <a:t>+</a:t>
                      </a:r>
                      <a:r>
                        <a:rPr lang="ko-KR" altLang="en-US" sz="1050" dirty="0" err="1">
                          <a:latin typeface="+mn-lt"/>
                        </a:rPr>
                        <a:t>엣지→이미지</a:t>
                      </a:r>
                      <a:r>
                        <a:rPr lang="en-US" altLang="ko-KR" sz="1050" dirty="0">
                          <a:latin typeface="+mn-lt"/>
                        </a:rPr>
                        <a:t>)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StableDiffusionXLAdapterPipeline (self.pipeline)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Diffusers SDXL Adapter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>
                          <a:latin typeface="+mn-lt"/>
                        </a:rPr>
                        <a:t>프롬프트 </a:t>
                      </a:r>
                      <a:r>
                        <a:rPr lang="en-US" altLang="ko-KR" sz="1050">
                          <a:latin typeface="+mn-lt"/>
                        </a:rPr>
                        <a:t>+ </a:t>
                      </a:r>
                      <a:r>
                        <a:rPr lang="ko-KR" altLang="en-US" sz="1050">
                          <a:latin typeface="+mn-lt"/>
                        </a:rPr>
                        <a:t>엣지맵으로 이미지 생성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+mn-lt"/>
                        </a:rPr>
                        <a:t>prompt, </a:t>
                      </a:r>
                      <a:r>
                        <a:rPr lang="en-US" sz="1050" dirty="0" err="1">
                          <a:latin typeface="+mn-lt"/>
                        </a:rPr>
                        <a:t>neg_prompt</a:t>
                      </a:r>
                      <a:r>
                        <a:rPr lang="en-US" sz="1050" dirty="0">
                          <a:latin typeface="+mn-lt"/>
                        </a:rPr>
                        <a:t>, </a:t>
                      </a:r>
                      <a:r>
                        <a:rPr lang="en-US" sz="1050" dirty="0" err="1">
                          <a:latin typeface="+mn-lt"/>
                        </a:rPr>
                        <a:t>edge_map</a:t>
                      </a:r>
                      <a:r>
                        <a:rPr lang="en-US" sz="1050" dirty="0">
                          <a:latin typeface="+mn-lt"/>
                        </a:rPr>
                        <a:t>, seed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>
                          <a:latin typeface="+mn-lt"/>
                        </a:rPr>
                        <a:t>스케줄러</a:t>
                      </a:r>
                      <a:r>
                        <a:rPr lang="en-US" altLang="ko-KR" sz="1050">
                          <a:latin typeface="+mn-lt"/>
                        </a:rPr>
                        <a:t>/vae/adapter </a:t>
                      </a:r>
                      <a:r>
                        <a:rPr lang="ko-KR" altLang="en-US" sz="1050">
                          <a:latin typeface="+mn-lt"/>
                        </a:rPr>
                        <a:t>결합 후 추론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image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SDXL base + T2I Adapter Sketch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741413"/>
                  </a:ext>
                </a:extLst>
              </a:tr>
              <a:tr h="522721"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latin typeface="+mn-lt"/>
                        </a:rPr>
                        <a:t>생성</a:t>
                      </a:r>
                      <a:r>
                        <a:rPr lang="en-US" altLang="ko-KR" sz="1050" dirty="0">
                          <a:latin typeface="+mn-lt"/>
                        </a:rPr>
                        <a:t>(</a:t>
                      </a:r>
                      <a:r>
                        <a:rPr lang="ko-KR" altLang="en-US" sz="1050" dirty="0">
                          <a:latin typeface="+mn-lt"/>
                        </a:rPr>
                        <a:t>조건 모듈</a:t>
                      </a:r>
                      <a:r>
                        <a:rPr lang="en-US" altLang="ko-KR" sz="1050" dirty="0">
                          <a:latin typeface="+mn-lt"/>
                        </a:rPr>
                        <a:t>)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T2IAdapter (self.adapter)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TencentARC/t2i-adapter-sketch-sdxl-1.0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>
                          <a:latin typeface="+mn-lt"/>
                        </a:rPr>
                        <a:t>엣지</a:t>
                      </a:r>
                      <a:r>
                        <a:rPr lang="en-US" altLang="ko-KR" sz="1050">
                          <a:latin typeface="+mn-lt"/>
                        </a:rPr>
                        <a:t>/</a:t>
                      </a:r>
                      <a:r>
                        <a:rPr lang="ko-KR" altLang="en-US" sz="1050">
                          <a:latin typeface="+mn-lt"/>
                        </a:rPr>
                        <a:t>스케치 조건을 </a:t>
                      </a:r>
                      <a:r>
                        <a:rPr lang="en-US" altLang="ko-KR" sz="1050">
                          <a:latin typeface="+mn-lt"/>
                        </a:rPr>
                        <a:t>SDXL</a:t>
                      </a:r>
                      <a:r>
                        <a:rPr lang="ko-KR" altLang="en-US" sz="1050">
                          <a:latin typeface="+mn-lt"/>
                        </a:rPr>
                        <a:t>에 주입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edge_map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+mn-lt"/>
                        </a:rPr>
                        <a:t>adapter conditioning scale </a:t>
                      </a:r>
                      <a:r>
                        <a:rPr lang="ko-KR" altLang="en-US" sz="1050" dirty="0">
                          <a:latin typeface="+mn-lt"/>
                        </a:rPr>
                        <a:t>적용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>
                          <a:latin typeface="+mn-lt"/>
                        </a:rPr>
                        <a:t>조건 반영된 </a:t>
                      </a:r>
                      <a:r>
                        <a:rPr lang="en-US" altLang="ko-KR" sz="1050">
                          <a:latin typeface="+mn-lt"/>
                        </a:rPr>
                        <a:t>latent </a:t>
                      </a:r>
                      <a:r>
                        <a:rPr lang="ko-KR" altLang="en-US" sz="1050">
                          <a:latin typeface="+mn-lt"/>
                        </a:rPr>
                        <a:t>영향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adapter_conditioning_scale=0.9 </a:t>
                      </a:r>
                      <a:r>
                        <a:rPr lang="ko-KR" altLang="en-US" sz="1050">
                          <a:latin typeface="+mn-lt"/>
                        </a:rPr>
                        <a:t>기본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699618"/>
                  </a:ext>
                </a:extLst>
              </a:tr>
              <a:tr h="522721"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latin typeface="+mn-lt"/>
                        </a:rPr>
                        <a:t>생성</a:t>
                      </a:r>
                      <a:r>
                        <a:rPr lang="en-US" altLang="ko-KR" sz="1050" dirty="0">
                          <a:latin typeface="+mn-lt"/>
                        </a:rPr>
                        <a:t>(</a:t>
                      </a:r>
                      <a:r>
                        <a:rPr lang="ko-KR" altLang="en-US" sz="1050" dirty="0">
                          <a:latin typeface="+mn-lt"/>
                        </a:rPr>
                        <a:t>스케줄러</a:t>
                      </a:r>
                      <a:r>
                        <a:rPr lang="en-US" altLang="ko-KR" sz="1050" dirty="0">
                          <a:latin typeface="+mn-lt"/>
                        </a:rPr>
                        <a:t>)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EulerAncestralDiscreteScheduler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Diffusers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>
                          <a:latin typeface="+mn-lt"/>
                        </a:rPr>
                        <a:t>샘플링</a:t>
                      </a:r>
                      <a:r>
                        <a:rPr lang="en-US" altLang="ko-KR" sz="1050">
                          <a:latin typeface="+mn-lt"/>
                        </a:rPr>
                        <a:t>(</a:t>
                      </a:r>
                      <a:r>
                        <a:rPr lang="ko-KR" altLang="en-US" sz="1050">
                          <a:latin typeface="+mn-lt"/>
                        </a:rPr>
                        <a:t>추론</a:t>
                      </a:r>
                      <a:r>
                        <a:rPr lang="en-US" altLang="ko-KR" sz="1050">
                          <a:latin typeface="+mn-lt"/>
                        </a:rPr>
                        <a:t>) </a:t>
                      </a:r>
                      <a:r>
                        <a:rPr lang="ko-KR" altLang="en-US" sz="1050">
                          <a:latin typeface="+mn-lt"/>
                        </a:rPr>
                        <a:t>스텝 방식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num_steps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Euler A </a:t>
                      </a:r>
                      <a:r>
                        <a:rPr lang="ko-KR" altLang="en-US" sz="1050">
                          <a:latin typeface="+mn-lt"/>
                        </a:rPr>
                        <a:t>스케줄링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 err="1">
                          <a:latin typeface="+mn-lt"/>
                        </a:rPr>
                        <a:t>샘플링된</a:t>
                      </a:r>
                      <a:r>
                        <a:rPr lang="ko-KR" altLang="en-US" sz="1050" dirty="0">
                          <a:latin typeface="+mn-lt"/>
                        </a:rPr>
                        <a:t> 결과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SDXL base</a:t>
                      </a:r>
                      <a:r>
                        <a:rPr lang="ko-KR" altLang="en-US" sz="1050">
                          <a:latin typeface="+mn-lt"/>
                        </a:rPr>
                        <a:t>의 </a:t>
                      </a:r>
                      <a:r>
                        <a:rPr lang="en-US" sz="1050">
                          <a:latin typeface="+mn-lt"/>
                        </a:rPr>
                        <a:t>scheduler subfolder </a:t>
                      </a:r>
                      <a:r>
                        <a:rPr lang="ko-KR" altLang="en-US" sz="1050">
                          <a:latin typeface="+mn-lt"/>
                        </a:rPr>
                        <a:t>로드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78265"/>
                  </a:ext>
                </a:extLst>
              </a:tr>
              <a:tr h="402092"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latin typeface="+mn-lt"/>
                        </a:rPr>
                        <a:t>생성</a:t>
                      </a:r>
                      <a:r>
                        <a:rPr lang="en-US" altLang="ko-KR" sz="1050" dirty="0">
                          <a:latin typeface="+mn-lt"/>
                        </a:rPr>
                        <a:t>(</a:t>
                      </a:r>
                      <a:r>
                        <a:rPr lang="en-US" sz="1050" dirty="0">
                          <a:latin typeface="+mn-lt"/>
                        </a:rPr>
                        <a:t>VAE)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AutoencoderKL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madebyollin/sdxl-vae-fp16-fix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>
                          <a:latin typeface="+mn-lt"/>
                        </a:rPr>
                        <a:t>latent↔</a:t>
                      </a:r>
                      <a:r>
                        <a:rPr lang="ko-KR" altLang="en-US" sz="1050">
                          <a:latin typeface="+mn-lt"/>
                        </a:rPr>
                        <a:t>이미지 디코딩</a:t>
                      </a:r>
                      <a:r>
                        <a:rPr lang="en-US" altLang="ko-KR" sz="1050">
                          <a:latin typeface="+mn-lt"/>
                        </a:rPr>
                        <a:t>/</a:t>
                      </a:r>
                      <a:r>
                        <a:rPr lang="ko-KR" altLang="en-US" sz="1050">
                          <a:latin typeface="+mn-lt"/>
                        </a:rPr>
                        <a:t>인코딩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latent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VAE </a:t>
                      </a:r>
                      <a:r>
                        <a:rPr lang="ko-KR" altLang="en-US" sz="1050">
                          <a:latin typeface="+mn-lt"/>
                        </a:rPr>
                        <a:t>디코드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latin typeface="+mn-lt"/>
                        </a:rPr>
                        <a:t>이미지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fp16 </a:t>
                      </a:r>
                      <a:r>
                        <a:rPr lang="ko-KR" altLang="en-US" sz="1050">
                          <a:latin typeface="+mn-lt"/>
                        </a:rPr>
                        <a:t>고정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707363"/>
                  </a:ext>
                </a:extLst>
              </a:tr>
              <a:tr h="763976">
                <a:tc>
                  <a:txBody>
                    <a:bodyPr/>
                    <a:lstStyle/>
                    <a:p>
                      <a:r>
                        <a:rPr lang="ko-KR" altLang="en-US" sz="1050" dirty="0" err="1">
                          <a:latin typeface="+mn-lt"/>
                        </a:rPr>
                        <a:t>인페인팅</a:t>
                      </a:r>
                      <a:r>
                        <a:rPr lang="en-US" altLang="ko-KR" sz="1050" dirty="0">
                          <a:latin typeface="+mn-lt"/>
                        </a:rPr>
                        <a:t>(</a:t>
                      </a:r>
                      <a:r>
                        <a:rPr lang="ko-KR" altLang="en-US" sz="1050" dirty="0">
                          <a:latin typeface="+mn-lt"/>
                        </a:rPr>
                        <a:t>텍스트</a:t>
                      </a:r>
                      <a:r>
                        <a:rPr lang="en-US" altLang="ko-KR" sz="1050" dirty="0">
                          <a:latin typeface="+mn-lt"/>
                        </a:rPr>
                        <a:t>+</a:t>
                      </a:r>
                      <a:r>
                        <a:rPr lang="ko-KR" altLang="en-US" sz="1050" dirty="0">
                          <a:latin typeface="+mn-lt"/>
                        </a:rPr>
                        <a:t>마스크</a:t>
                      </a:r>
                      <a:r>
                        <a:rPr lang="en-US" altLang="ko-KR" sz="1050" dirty="0">
                          <a:latin typeface="+mn-lt"/>
                        </a:rPr>
                        <a:t>)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AutoPipelineForInpainting (self.inpainting_pipeline)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kandinsky-community/kandinsky-2-2-decoder-inpaint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>
                          <a:latin typeface="+mn-lt"/>
                        </a:rPr>
                        <a:t>이미지 일부 수정</a:t>
                      </a:r>
                      <a:r>
                        <a:rPr lang="en-US" altLang="ko-KR" sz="1050">
                          <a:latin typeface="+mn-lt"/>
                        </a:rPr>
                        <a:t>/</a:t>
                      </a:r>
                      <a:r>
                        <a:rPr lang="ko-KR" altLang="en-US" sz="1050">
                          <a:latin typeface="+mn-lt"/>
                        </a:rPr>
                        <a:t>채우기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image, mask_image, prompt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>
                          <a:latin typeface="+mn-lt"/>
                        </a:rPr>
                        <a:t>1024 </a:t>
                      </a:r>
                      <a:r>
                        <a:rPr lang="ko-KR" altLang="en-US" sz="1050">
                          <a:latin typeface="+mn-lt"/>
                        </a:rPr>
                        <a:t>리사이즈 후 </a:t>
                      </a:r>
                      <a:r>
                        <a:rPr lang="en-US" altLang="ko-KR" sz="1050">
                          <a:latin typeface="+mn-lt"/>
                        </a:rPr>
                        <a:t>inpaint </a:t>
                      </a:r>
                      <a:r>
                        <a:rPr lang="ko-KR" altLang="en-US" sz="1050">
                          <a:latin typeface="+mn-lt"/>
                        </a:rPr>
                        <a:t>추론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+mn-lt"/>
                        </a:rPr>
                        <a:t>output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dirty="0" err="1">
                          <a:latin typeface="+mn-lt"/>
                        </a:rPr>
                        <a:t>low_vram</a:t>
                      </a:r>
                      <a:r>
                        <a:rPr lang="ko-KR" altLang="en-US" sz="1050" dirty="0">
                          <a:latin typeface="+mn-lt"/>
                        </a:rPr>
                        <a:t>이면 생성 파이프라인 메모리 정리 후 로드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388035"/>
                  </a:ext>
                </a:extLst>
              </a:tr>
              <a:tr h="522721">
                <a:tc>
                  <a:txBody>
                    <a:bodyPr/>
                    <a:lstStyle/>
                    <a:p>
                      <a:r>
                        <a:rPr lang="ko-KR" altLang="en-US" sz="1050" dirty="0" err="1">
                          <a:latin typeface="+mn-lt"/>
                        </a:rPr>
                        <a:t>랜덤성</a:t>
                      </a:r>
                      <a:r>
                        <a:rPr lang="ko-KR" altLang="en-US" sz="1050" dirty="0">
                          <a:latin typeface="+mn-lt"/>
                        </a:rPr>
                        <a:t> 제어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torch.Generator(...).manual_seed(seed)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PyTorch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>
                          <a:latin typeface="+mn-lt"/>
                        </a:rPr>
                        <a:t>재현성 있는 생성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seed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generator </a:t>
                      </a:r>
                      <a:r>
                        <a:rPr lang="ko-KR" altLang="en-US" sz="1050">
                          <a:latin typeface="+mn-lt"/>
                        </a:rPr>
                        <a:t>생성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deterministic-ish </a:t>
                      </a:r>
                      <a:r>
                        <a:rPr lang="ko-KR" altLang="en-US" sz="1050">
                          <a:latin typeface="+mn-lt"/>
                        </a:rPr>
                        <a:t>출력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dirty="0">
                          <a:latin typeface="+mn-lt"/>
                        </a:rPr>
                        <a:t>device </a:t>
                      </a:r>
                      <a:r>
                        <a:rPr lang="ko-KR" altLang="en-US" sz="1050" dirty="0">
                          <a:latin typeface="+mn-lt"/>
                        </a:rPr>
                        <a:t>동일해야 재현 잘됨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66576"/>
                  </a:ext>
                </a:extLst>
              </a:tr>
              <a:tr h="643349"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latin typeface="+mn-lt"/>
                        </a:rPr>
                        <a:t>메모리 관리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cleanup_*, gc.collect, torch.cuda.empty_cache()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gc/torch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VRAM/RAM </a:t>
                      </a:r>
                      <a:r>
                        <a:rPr lang="ko-KR" altLang="en-US" sz="1050">
                          <a:latin typeface="+mn-lt"/>
                        </a:rPr>
                        <a:t>회수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>
                          <a:latin typeface="+mn-lt"/>
                        </a:rPr>
                        <a:t>-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+mn-lt"/>
                        </a:rPr>
                        <a:t>pipeline/adapter/pidinet </a:t>
                      </a:r>
                      <a:r>
                        <a:rPr lang="ko-KR" altLang="en-US" sz="1050">
                          <a:latin typeface="+mn-lt"/>
                        </a:rPr>
                        <a:t>삭제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dirty="0">
                          <a:latin typeface="+mn-lt"/>
                        </a:rPr>
                        <a:t>-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err="1">
                          <a:latin typeface="+mn-lt"/>
                        </a:rPr>
                        <a:t>low_vram</a:t>
                      </a:r>
                      <a:r>
                        <a:rPr lang="en-US" sz="1050" dirty="0">
                          <a:latin typeface="+mn-lt"/>
                        </a:rPr>
                        <a:t> </a:t>
                      </a:r>
                      <a:r>
                        <a:rPr lang="ko-KR" altLang="en-US" sz="1050" dirty="0">
                          <a:latin typeface="+mn-lt"/>
                        </a:rPr>
                        <a:t>운영 핵심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147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3664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427281"/>
              </p:ext>
            </p:extLst>
          </p:nvPr>
        </p:nvGraphicFramePr>
        <p:xfrm>
          <a:off x="372531" y="169336"/>
          <a:ext cx="11700935" cy="6469090"/>
        </p:xfrm>
        <a:graphic>
          <a:graphicData uri="http://schemas.openxmlformats.org/drawingml/2006/table">
            <a:tbl>
              <a:tblPr/>
              <a:tblGrid>
                <a:gridCol w="1049869">
                  <a:extLst>
                    <a:ext uri="{9D8B030D-6E8A-4147-A177-3AD203B41FA5}">
                      <a16:colId xmlns:a16="http://schemas.microsoft.com/office/drawing/2014/main" val="3422613632"/>
                    </a:ext>
                  </a:extLst>
                </a:gridCol>
                <a:gridCol w="3115733">
                  <a:extLst>
                    <a:ext uri="{9D8B030D-6E8A-4147-A177-3AD203B41FA5}">
                      <a16:colId xmlns:a16="http://schemas.microsoft.com/office/drawing/2014/main" val="3839344005"/>
                    </a:ext>
                  </a:extLst>
                </a:gridCol>
                <a:gridCol w="2854959">
                  <a:extLst>
                    <a:ext uri="{9D8B030D-6E8A-4147-A177-3AD203B41FA5}">
                      <a16:colId xmlns:a16="http://schemas.microsoft.com/office/drawing/2014/main" val="3210707957"/>
                    </a:ext>
                  </a:extLst>
                </a:gridCol>
                <a:gridCol w="2340187">
                  <a:extLst>
                    <a:ext uri="{9D8B030D-6E8A-4147-A177-3AD203B41FA5}">
                      <a16:colId xmlns:a16="http://schemas.microsoft.com/office/drawing/2014/main" val="1119373842"/>
                    </a:ext>
                  </a:extLst>
                </a:gridCol>
                <a:gridCol w="2340187">
                  <a:extLst>
                    <a:ext uri="{9D8B030D-6E8A-4147-A177-3AD203B41FA5}">
                      <a16:colId xmlns:a16="http://schemas.microsoft.com/office/drawing/2014/main" val="1974726234"/>
                    </a:ext>
                  </a:extLst>
                </a:gridCol>
              </a:tblGrid>
              <a:tr h="24115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dirty="0"/>
                        <a:t>단계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dirty="0"/>
                        <a:t>호출 함수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dirty="0"/>
                        <a:t>입력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dirty="0"/>
                        <a:t>처리</a:t>
                      </a:r>
                      <a:r>
                        <a:rPr lang="en-US" altLang="ko-KR" sz="2000" b="1" dirty="0"/>
                        <a:t>(</a:t>
                      </a:r>
                      <a:r>
                        <a:rPr lang="ko-KR" altLang="en-US" sz="2000" b="1" dirty="0"/>
                        <a:t>내부 흐름</a:t>
                      </a:r>
                      <a:r>
                        <a:rPr lang="en-US" altLang="ko-KR" sz="2000" b="1" dirty="0"/>
                        <a:t>)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dirty="0"/>
                        <a:t>출력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157528"/>
                  </a:ext>
                </a:extLst>
              </a:tr>
              <a:tr h="66056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0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__</a:t>
                      </a:r>
                      <a:r>
                        <a:rPr lang="en-US" sz="1400" dirty="0" err="1"/>
                        <a:t>init</a:t>
                      </a:r>
                      <a:r>
                        <a:rPr lang="en-US" sz="1400" dirty="0"/>
                        <a:t>__(device, </a:t>
                      </a:r>
                      <a:r>
                        <a:rPr lang="en-US" sz="1400" dirty="0" err="1"/>
                        <a:t>low_vram</a:t>
                      </a:r>
                      <a:r>
                        <a:rPr lang="en-US" sz="1400" dirty="0"/>
                        <a:t>)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device, low_vram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상태 변수 초기화</a:t>
                      </a:r>
                      <a:r>
                        <a:rPr lang="en-US" altLang="ko-KR" sz="1400" dirty="0"/>
                        <a:t>(</a:t>
                      </a:r>
                      <a:r>
                        <a:rPr lang="en-US" sz="1400" dirty="0"/>
                        <a:t>pipeline/adapter/</a:t>
                      </a:r>
                      <a:r>
                        <a:rPr lang="en-US" sz="1400" dirty="0" err="1"/>
                        <a:t>pidinet</a:t>
                      </a:r>
                      <a:r>
                        <a:rPr lang="en-US" sz="1400" dirty="0"/>
                        <a:t>/</a:t>
                      </a:r>
                      <a:r>
                        <a:rPr lang="en-US" sz="1400" dirty="0" err="1"/>
                        <a:t>inpaint</a:t>
                      </a:r>
                      <a:r>
                        <a:rPr lang="en-US" sz="1400" dirty="0"/>
                        <a:t>=None)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모델 엔진 객체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0924681"/>
                  </a:ext>
                </a:extLst>
              </a:tr>
              <a:tr h="107997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1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generate_image</a:t>
                      </a:r>
                      <a:r>
                        <a:rPr lang="en-US" sz="1400" dirty="0"/>
                        <a:t>(</a:t>
                      </a:r>
                      <a:r>
                        <a:rPr lang="en-US" sz="1400" dirty="0" err="1"/>
                        <a:t>sketch_image</a:t>
                      </a:r>
                      <a:r>
                        <a:rPr lang="en-US" sz="1400" dirty="0"/>
                        <a:t>, prompt, ...)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스케치</a:t>
                      </a:r>
                      <a:r>
                        <a:rPr lang="en-US" altLang="ko-KR" sz="1400" dirty="0"/>
                        <a:t>(PIL), </a:t>
                      </a:r>
                      <a:r>
                        <a:rPr lang="ko-KR" altLang="en-US" sz="1400" dirty="0"/>
                        <a:t>프롬프트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시드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스텝 등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load_generation_pipeline() → </a:t>
                      </a:r>
                      <a:r>
                        <a:rPr lang="ko-KR" altLang="en-US" sz="1400"/>
                        <a:t>스케치 </a:t>
                      </a:r>
                      <a:r>
                        <a:rPr lang="en-US" sz="1400"/>
                        <a:t>RGB/1024 → pidinet</a:t>
                      </a:r>
                      <a:r>
                        <a:rPr lang="ko-KR" altLang="en-US" sz="1400"/>
                        <a:t>으로 </a:t>
                      </a:r>
                      <a:r>
                        <a:rPr lang="en-US" sz="1400"/>
                        <a:t>edge_map </a:t>
                      </a:r>
                      <a:r>
                        <a:rPr lang="ko-KR" altLang="en-US" sz="1400"/>
                        <a:t>생성 → </a:t>
                      </a:r>
                      <a:r>
                        <a:rPr lang="en-US" sz="1400"/>
                        <a:t>SDXL Adapter pipeline </a:t>
                      </a:r>
                      <a:r>
                        <a:rPr lang="ko-KR" altLang="en-US" sz="1400"/>
                        <a:t>추론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(image, edge_map)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4094476"/>
                  </a:ext>
                </a:extLst>
              </a:tr>
              <a:tr h="128968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1-1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load_generation_pipeline()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400" dirty="0"/>
                        <a:t>-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Adapter </a:t>
                      </a:r>
                      <a:r>
                        <a:rPr lang="ko-KR" altLang="en-US" sz="1400" dirty="0"/>
                        <a:t>로드 → </a:t>
                      </a:r>
                      <a:r>
                        <a:rPr lang="en-US" sz="1400" dirty="0" err="1"/>
                        <a:t>Scheduler+VAE</a:t>
                      </a:r>
                      <a:r>
                        <a:rPr lang="en-US" sz="1400" dirty="0"/>
                        <a:t> </a:t>
                      </a:r>
                      <a:r>
                        <a:rPr lang="ko-KR" altLang="en-US" sz="1400" dirty="0"/>
                        <a:t>로드 → </a:t>
                      </a:r>
                      <a:r>
                        <a:rPr lang="en-US" sz="1400" dirty="0" err="1"/>
                        <a:t>SDXLAdapterPipeline</a:t>
                      </a:r>
                      <a:r>
                        <a:rPr lang="en-US" sz="1400" dirty="0"/>
                        <a:t> </a:t>
                      </a:r>
                      <a:r>
                        <a:rPr lang="ko-KR" altLang="en-US" sz="1400" dirty="0"/>
                        <a:t>조립 → </a:t>
                      </a:r>
                      <a:r>
                        <a:rPr lang="en-US" altLang="ko-KR" sz="1400" dirty="0"/>
                        <a:t>(</a:t>
                      </a:r>
                      <a:r>
                        <a:rPr lang="en-US" sz="1400" dirty="0" err="1"/>
                        <a:t>low_vram</a:t>
                      </a:r>
                      <a:r>
                        <a:rPr lang="ko-KR" altLang="en-US" sz="1400" dirty="0"/>
                        <a:t>이면 </a:t>
                      </a:r>
                      <a:r>
                        <a:rPr lang="en-US" sz="1400" dirty="0" err="1"/>
                        <a:t>cpu</a:t>
                      </a:r>
                      <a:r>
                        <a:rPr lang="en-US" sz="1400" dirty="0"/>
                        <a:t> offload/</a:t>
                      </a:r>
                      <a:r>
                        <a:rPr lang="ko-KR" altLang="en-US" sz="1400" dirty="0"/>
                        <a:t>아니면 </a:t>
                      </a:r>
                      <a:r>
                        <a:rPr lang="en-US" sz="1400" dirty="0" err="1"/>
                        <a:t>cuda</a:t>
                      </a:r>
                      <a:r>
                        <a:rPr lang="en-US" sz="1400" dirty="0"/>
                        <a:t>) → </a:t>
                      </a:r>
                      <a:r>
                        <a:rPr lang="en-US" sz="1400" dirty="0" err="1"/>
                        <a:t>PidiNet</a:t>
                      </a:r>
                      <a:r>
                        <a:rPr lang="en-US" sz="1400" dirty="0"/>
                        <a:t> </a:t>
                      </a:r>
                      <a:r>
                        <a:rPr lang="ko-KR" altLang="en-US" sz="1400" dirty="0"/>
                        <a:t>로드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생성 파이프라인 </a:t>
                      </a:r>
                      <a:r>
                        <a:rPr lang="en-US" altLang="ko-KR" sz="1400"/>
                        <a:t>ready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4798378"/>
                  </a:ext>
                </a:extLst>
              </a:tr>
              <a:tr h="87027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2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inpaint_image(image, mask_image, prompt, ...)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원본 이미지</a:t>
                      </a:r>
                      <a:r>
                        <a:rPr lang="en-US" altLang="ko-KR" sz="1400"/>
                        <a:t>(PIL), </a:t>
                      </a:r>
                      <a:r>
                        <a:rPr lang="ko-KR" altLang="en-US" sz="1400"/>
                        <a:t>마스크</a:t>
                      </a:r>
                      <a:r>
                        <a:rPr lang="en-US" altLang="ko-KR" sz="1400"/>
                        <a:t>(PIL), </a:t>
                      </a:r>
                      <a:r>
                        <a:rPr lang="ko-KR" altLang="en-US" sz="1400"/>
                        <a:t>프롬프트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load_inpainting_pipeline</a:t>
                      </a:r>
                      <a:r>
                        <a:rPr lang="en-US" sz="1400" dirty="0"/>
                        <a:t>() → </a:t>
                      </a:r>
                      <a:r>
                        <a:rPr lang="ko-KR" altLang="en-US" sz="1400" dirty="0"/>
                        <a:t>입력 </a:t>
                      </a:r>
                      <a:r>
                        <a:rPr lang="en-US" altLang="ko-KR" sz="1400" dirty="0"/>
                        <a:t>1024 </a:t>
                      </a:r>
                      <a:r>
                        <a:rPr lang="ko-KR" altLang="en-US" sz="1400" dirty="0" err="1"/>
                        <a:t>리사이즈</a:t>
                      </a:r>
                      <a:r>
                        <a:rPr lang="ko-KR" altLang="en-US" sz="1400" dirty="0"/>
                        <a:t> → </a:t>
                      </a:r>
                      <a:r>
                        <a:rPr lang="en-US" sz="1400" dirty="0"/>
                        <a:t>Kandinsky </a:t>
                      </a:r>
                      <a:r>
                        <a:rPr lang="en-US" sz="1400" dirty="0" err="1"/>
                        <a:t>inpaint</a:t>
                      </a:r>
                      <a:r>
                        <a:rPr lang="en-US" sz="1400" dirty="0"/>
                        <a:t> </a:t>
                      </a:r>
                      <a:r>
                        <a:rPr lang="ko-KR" altLang="en-US" sz="1400" dirty="0"/>
                        <a:t>추론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output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1089705"/>
                  </a:ext>
                </a:extLst>
              </a:tr>
              <a:tr h="87027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2-1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load_inpainting_pipeline()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400"/>
                        <a:t>-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400" dirty="0" err="1"/>
                        <a:t>low_vram</a:t>
                      </a:r>
                      <a:r>
                        <a:rPr lang="ko-KR" altLang="en-US" sz="1400" dirty="0"/>
                        <a:t>이면 기존 생성 파이프라인 정리 → </a:t>
                      </a:r>
                      <a:r>
                        <a:rPr lang="en-US" altLang="ko-KR" sz="1400" dirty="0"/>
                        <a:t>Kandinsky </a:t>
                      </a:r>
                      <a:r>
                        <a:rPr lang="en-US" altLang="ko-KR" sz="1400" dirty="0" err="1"/>
                        <a:t>inpaint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로드 → </a:t>
                      </a:r>
                      <a:r>
                        <a:rPr lang="en-US" altLang="ko-KR" sz="1400" dirty="0" err="1"/>
                        <a:t>cpu</a:t>
                      </a:r>
                      <a:r>
                        <a:rPr lang="en-US" altLang="ko-KR" sz="1400" dirty="0"/>
                        <a:t> offload/</a:t>
                      </a:r>
                      <a:r>
                        <a:rPr lang="en-US" altLang="ko-KR" sz="1400" dirty="0" err="1"/>
                        <a:t>cuda</a:t>
                      </a:r>
                      <a:endParaRPr lang="en-US" altLang="ko-KR" sz="1400" dirty="0"/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 err="1"/>
                        <a:t>인페인팅</a:t>
                      </a:r>
                      <a:r>
                        <a:rPr lang="ko-KR" altLang="en-US" sz="1400" dirty="0"/>
                        <a:t> 파이프라인 </a:t>
                      </a:r>
                      <a:r>
                        <a:rPr lang="en-US" altLang="ko-KR" sz="1400" dirty="0"/>
                        <a:t>ready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142275"/>
                  </a:ext>
                </a:extLst>
              </a:tr>
              <a:tr h="66056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3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cleanup_generation_pipeline()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400"/>
                        <a:t>-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pipeline/adapter/pidinet del → gc + CUDA cache clear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메모리 확보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893586"/>
                  </a:ext>
                </a:extLst>
              </a:tr>
              <a:tr h="66056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4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cleanup_inpainting_pipeline()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400"/>
                        <a:t>-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inpainting_pipeline del → gc + CUDA cache clear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메모리 확보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644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1166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645292"/>
              </p:ext>
            </p:extLst>
          </p:nvPr>
        </p:nvGraphicFramePr>
        <p:xfrm>
          <a:off x="220131" y="237067"/>
          <a:ext cx="11734800" cy="6214531"/>
        </p:xfrm>
        <a:graphic>
          <a:graphicData uri="http://schemas.openxmlformats.org/drawingml/2006/table">
            <a:tbl>
              <a:tblPr/>
              <a:tblGrid>
                <a:gridCol w="2933700">
                  <a:extLst>
                    <a:ext uri="{9D8B030D-6E8A-4147-A177-3AD203B41FA5}">
                      <a16:colId xmlns:a16="http://schemas.microsoft.com/office/drawing/2014/main" val="920715882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955240122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1837675064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2561570959"/>
                    </a:ext>
                  </a:extLst>
                </a:gridCol>
              </a:tblGrid>
              <a:tr h="425399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추천 화풍 </a:t>
                      </a:r>
                      <a:r>
                        <a:rPr lang="en-US" altLang="ko-KR" sz="14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en-US" sz="1400" b="1" dirty="0" err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LoRA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48564" marR="48564" marT="32376" marB="323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주요 치료적 기대효과</a:t>
                      </a:r>
                      <a:endParaRPr lang="ko-KR" altLang="en-US" sz="14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48564" marR="48564" marT="32376" marB="323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학술적 근거 및 메커니즘</a:t>
                      </a:r>
                      <a:endParaRPr lang="ko-KR" altLang="en-US" sz="14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48564" marR="48564" marT="32376" marB="323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관련 문헌</a:t>
                      </a:r>
                      <a:r>
                        <a:rPr lang="en-US" altLang="ko-KR" sz="14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출처</a:t>
                      </a:r>
                      <a:endParaRPr lang="ko-KR" altLang="en-US" sz="14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48564" marR="48564" marT="32376" marB="323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820011"/>
                  </a:ext>
                </a:extLst>
              </a:tr>
              <a:tr h="1257703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부드러운 수채화</a:t>
                      </a:r>
                      <a:endParaRPr lang="ko-KR" altLang="en-US" sz="14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  <a:p>
                      <a:pPr algn="ctr" rtl="0"/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/>
                      </a:r>
                      <a:b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</a:b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(Soft Watercolor)</a:t>
                      </a:r>
                    </a:p>
                  </a:txBody>
                  <a:tcPr marL="48564" marR="48564" marT="32376" marB="323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정서적 이완 및 </a:t>
                      </a:r>
                      <a:r>
                        <a:rPr lang="ko-KR" altLang="en-US" sz="1400" b="1" dirty="0" err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마음챙김</a:t>
                      </a:r>
                      <a:endParaRPr lang="ko-KR" altLang="en-US" sz="14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  <a:p>
                      <a:pPr rtl="0"/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/>
                      </a:r>
                      <a:b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</a:b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낮은 채도와 번짐 기법을 통해 </a:t>
                      </a:r>
                      <a:r>
                        <a:rPr lang="ko-KR" altLang="en-US" sz="1400" dirty="0" err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불안도를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낮추고 현재의 감정에 집중하게 함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.</a:t>
                      </a:r>
                    </a:p>
                  </a:txBody>
                  <a:tcPr marL="48564" marR="48564" marT="32376" marB="323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매체의 유동성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(Fluidity)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이 심리적 방어를 완화하고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통제력을 내려놓는 연습을 통해 </a:t>
                      </a:r>
                      <a:r>
                        <a:rPr lang="ko-KR" altLang="en-US" sz="1400" dirty="0" err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우울감을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개선함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.</a:t>
                      </a:r>
                    </a:p>
                  </a:txBody>
                  <a:tcPr marL="48564" marR="48564" marT="32376" marB="323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Rappaport (2009), </a:t>
                      </a:r>
                    </a:p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/>
                      </a:r>
                      <a:b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Rogers (1993)</a:t>
                      </a:r>
                    </a:p>
                  </a:txBody>
                  <a:tcPr marL="48564" marR="48564" marT="32376" marB="323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3383682"/>
                  </a:ext>
                </a:extLst>
              </a:tr>
              <a:tr h="1091242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따뜻한 오일 파스텔</a:t>
                      </a:r>
                      <a:endParaRPr lang="ko-KR" altLang="en-US" sz="14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  <a:p>
                      <a:pPr algn="ctr" rtl="0"/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/>
                      </a:r>
                      <a:b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</a:b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Warm Oil Pastel)</a:t>
                      </a:r>
                    </a:p>
                  </a:txBody>
                  <a:tcPr marL="48564" marR="48564" marT="32376" marB="323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감각적 접지</a:t>
                      </a:r>
                      <a:r>
                        <a:rPr lang="en-US" altLang="ko-KR" sz="14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(Grounding) </a:t>
                      </a:r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및 활력</a:t>
                      </a:r>
                      <a:endParaRPr lang="ko-KR" altLang="en-US" sz="14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  <a:p>
                      <a:pPr rtl="0"/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/>
                      </a:r>
                      <a:b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</a:b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촉각적 질감을 시각화하여 현실감을 높이고 긍정적 정서를 자극함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.</a:t>
                      </a:r>
                    </a:p>
                  </a:txBody>
                  <a:tcPr marL="48564" marR="48564" marT="32376" marB="323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재료의 가소성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(Plasticity)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이 높을수록 자아 표현이 자유로워지며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따뜻한 톤은 에너지 수준을 높이는 데 기여함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.</a:t>
                      </a:r>
                    </a:p>
                  </a:txBody>
                  <a:tcPr marL="48564" marR="48564" marT="32376" marB="323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Catherine Moon (2010), </a:t>
                      </a:r>
                    </a:p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/>
                      </a:r>
                      <a:b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Frontiers in Psychology (2025)</a:t>
                      </a:r>
                    </a:p>
                  </a:txBody>
                  <a:tcPr marL="48564" marR="48564" marT="32376" marB="323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5070326"/>
                  </a:ext>
                </a:extLst>
              </a:tr>
              <a:tr h="1257703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차분한 </a:t>
                      </a:r>
                      <a:r>
                        <a:rPr lang="ko-KR" altLang="en-US" sz="1400" b="1" dirty="0" err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뮤트</a:t>
                      </a:r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톤</a:t>
                      </a:r>
                      <a:endParaRPr lang="ko-KR" altLang="en-US" sz="14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  <a:p>
                      <a:pPr algn="ctr" rtl="0"/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/>
                      </a:r>
                      <a:b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</a:b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Muted/</a:t>
                      </a:r>
                      <a:r>
                        <a:rPr lang="en-US" sz="1400" dirty="0" err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Morandi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)</a:t>
                      </a:r>
                    </a:p>
                  </a:txBody>
                  <a:tcPr marL="48564" marR="48564" marT="32376" marB="323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심리적 안정 및 감각 통합</a:t>
                      </a:r>
                      <a:endParaRPr lang="ko-KR" altLang="en-US" sz="14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  <a:p>
                      <a:pPr rtl="0"/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/>
                      </a:r>
                      <a:b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</a:br>
                      <a:r>
                        <a:rPr lang="ko-KR" altLang="en-US" sz="1400" dirty="0" err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고채도의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자극을 배제하여 </a:t>
                      </a:r>
                      <a:r>
                        <a:rPr lang="ko-KR" altLang="en-US" sz="1400" dirty="0" err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과각성된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신경계를 진정시키고 안정감을 부여함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.</a:t>
                      </a:r>
                    </a:p>
                  </a:txBody>
                  <a:tcPr marL="48564" marR="48564" marT="32376" marB="323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dirty="0" err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저채도의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색채 배합은 </a:t>
                      </a:r>
                      <a:r>
                        <a:rPr lang="ko-KR" altLang="en-US" sz="1400" dirty="0" err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아미그달라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ko-KR" altLang="en-US" sz="1400" dirty="0" err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편도체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)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의 공포 반응을 줄이고 </a:t>
                      </a:r>
                      <a:r>
                        <a:rPr lang="ko-KR" altLang="en-US" sz="1400" dirty="0" err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심박수와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ko-KR" altLang="en-US" sz="1400" dirty="0" err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코르티솔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수치를 낮춤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.</a:t>
                      </a:r>
                    </a:p>
                  </a:txBody>
                  <a:tcPr marL="48564" marR="48564" marT="32376" marB="323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Munsell Color System Analysis, </a:t>
                      </a:r>
                    </a:p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/>
                      </a:r>
                      <a:b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Insightful Counselling (2023)</a:t>
                      </a:r>
                    </a:p>
                  </a:txBody>
                  <a:tcPr marL="48564" marR="48564" marT="32376" marB="323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179805"/>
                  </a:ext>
                </a:extLst>
              </a:tr>
              <a:tr h="1091242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몽환적 스케치</a:t>
                      </a:r>
                      <a:endParaRPr lang="ko-KR" altLang="en-US" sz="14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  <a:p>
                      <a:pPr algn="ctr" rtl="0"/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/>
                      </a:r>
                      <a:b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</a:b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(Dreamy Sketch)</a:t>
                      </a:r>
                    </a:p>
                  </a:txBody>
                  <a:tcPr marL="48564" marR="48564" marT="32376" marB="323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인지적 명료화 및 거리두기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  <a:p>
                      <a:pPr rtl="0"/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/>
                      </a:r>
                      <a:b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</a:b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복잡한 감정을 선으로 구체화하여 객관적으로 바라보는 힘을 길러줌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.</a:t>
                      </a:r>
                    </a:p>
                  </a:txBody>
                  <a:tcPr marL="48564" marR="48564" marT="32376" marB="323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비언어적 드로잉 활동은 </a:t>
                      </a:r>
                      <a:r>
                        <a:rPr lang="ko-KR" altLang="en-US" sz="1400" dirty="0" err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전전두엽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피질을 활성화하여 정서 조절 능력을 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38% 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이상 향상시킴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.</a:t>
                      </a:r>
                    </a:p>
                  </a:txBody>
                  <a:tcPr marL="48564" marR="48564" marT="32376" marB="323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Journal of Clinical Psychology, </a:t>
                      </a:r>
                    </a:p>
                    <a:p>
                      <a:pPr rtl="0"/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/>
                      </a:r>
                      <a:b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Potash et al. (2025)</a:t>
                      </a:r>
                    </a:p>
                  </a:txBody>
                  <a:tcPr marL="48564" marR="48564" marT="32376" marB="323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045771"/>
                  </a:ext>
                </a:extLst>
              </a:tr>
              <a:tr h="1091242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동양적 수묵 담채</a:t>
                      </a:r>
                      <a:endParaRPr lang="ko-KR" altLang="en-US" sz="14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  <a:p>
                      <a:pPr algn="ctr" rtl="0"/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/>
                      </a:r>
                      <a:b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</a:b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Ink Wash Painting)</a:t>
                      </a:r>
                    </a:p>
                  </a:txBody>
                  <a:tcPr marL="48564" marR="48564" marT="32376" marB="323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사회적 인지 개선 및 명상 효과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  <a:p>
                      <a:pPr rtl="0"/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/>
                      </a:r>
                      <a:b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</a:b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자연친화적 요소와 여백을 통해 정신적 소진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(Burn-out)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을 회복함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.</a:t>
                      </a:r>
                    </a:p>
                  </a:txBody>
                  <a:tcPr marL="48564" marR="48564" marT="32376" marB="323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수묵화 기반의 치료는 정신분열증 및 치매 환자의 정서적 안정과 사회적 인지 기능을 유의미하게 개선함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.</a:t>
                      </a:r>
                    </a:p>
                  </a:txBody>
                  <a:tcPr marL="48564" marR="48564" marT="32376" marB="323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 err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ResearchGate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(2024), </a:t>
                      </a:r>
                    </a:p>
                    <a:p>
                      <a:pPr rtl="0"/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/>
                      </a:r>
                      <a:b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PMC (2024)</a:t>
                      </a:r>
                    </a:p>
                  </a:txBody>
                  <a:tcPr marL="48564" marR="48564" marT="32376" marB="323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7187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8209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참고문헌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1474675"/>
            <a:ext cx="955040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 err="1" smtClean="0"/>
              <a:t>화풍별</a:t>
            </a:r>
            <a:r>
              <a:rPr lang="ko-KR" altLang="en-US" b="1" dirty="0" smtClean="0"/>
              <a:t> 치료효과 근거 문헌 리스트 </a:t>
            </a:r>
            <a:r>
              <a:rPr lang="en-US" altLang="ko-KR" b="1" dirty="0" smtClean="0"/>
              <a:t>(Source List)</a:t>
            </a:r>
          </a:p>
          <a:p>
            <a:endParaRPr lang="en-US" altLang="ko-KR" b="1" dirty="0" smtClean="0"/>
          </a:p>
          <a:p>
            <a:pPr>
              <a:buFont typeface="+mj-lt"/>
              <a:buAutoNum type="arabicPeriod"/>
            </a:pPr>
            <a:r>
              <a:rPr lang="en-US" altLang="ko-KR" b="1" dirty="0" smtClean="0"/>
              <a:t>Schmutz, Y. V., et al. (2024).</a:t>
            </a:r>
            <a:r>
              <a:rPr lang="en-US" altLang="ko-KR" dirty="0" smtClean="0"/>
              <a:t> </a:t>
            </a:r>
            <a:r>
              <a:rPr lang="en-US" altLang="ko-KR" i="1" dirty="0" smtClean="0"/>
              <a:t>Integrating Generative AI into Art Therapy: A Technical Showcase.</a:t>
            </a:r>
            <a:r>
              <a:rPr lang="en-US" altLang="ko-KR" dirty="0" smtClean="0"/>
              <a:t> (</a:t>
            </a:r>
            <a:r>
              <a:rPr lang="ko-KR" altLang="en-US" dirty="0" smtClean="0"/>
              <a:t>본 프로젝트의 기반 논문</a:t>
            </a:r>
            <a:r>
              <a:rPr lang="en-US" altLang="ko-KR" dirty="0" smtClean="0"/>
              <a:t>: </a:t>
            </a:r>
            <a:r>
              <a:rPr lang="ko-KR" altLang="en-US" dirty="0" smtClean="0"/>
              <a:t>에이전트와 </a:t>
            </a:r>
            <a:r>
              <a:rPr lang="ko-KR" altLang="en-US" dirty="0" err="1" smtClean="0"/>
              <a:t>인페인팅의</a:t>
            </a:r>
            <a:r>
              <a:rPr lang="ko-KR" altLang="en-US" dirty="0" smtClean="0"/>
              <a:t> 기술적 유효성 증명</a:t>
            </a:r>
            <a:r>
              <a:rPr lang="en-US" altLang="ko-KR" dirty="0" smtClean="0"/>
              <a:t>)</a:t>
            </a:r>
          </a:p>
          <a:p>
            <a:pPr>
              <a:buFont typeface="+mj-lt"/>
              <a:buAutoNum type="arabicPeriod"/>
            </a:pPr>
            <a:r>
              <a:rPr lang="en-US" altLang="ko-KR" b="1" dirty="0" smtClean="0"/>
              <a:t>Rappaport, L. (2009).</a:t>
            </a:r>
            <a:r>
              <a:rPr lang="en-US" altLang="ko-KR" dirty="0" smtClean="0"/>
              <a:t> </a:t>
            </a:r>
            <a:r>
              <a:rPr lang="en-US" altLang="ko-KR" i="1" dirty="0" smtClean="0"/>
              <a:t>Mindfulness and the Arts Therapies.</a:t>
            </a:r>
            <a:r>
              <a:rPr lang="en-US" altLang="ko-KR" dirty="0" smtClean="0"/>
              <a:t> (</a:t>
            </a:r>
            <a:r>
              <a:rPr lang="ko-KR" altLang="en-US" dirty="0" smtClean="0"/>
              <a:t>수채화 등 유동적 매체의 </a:t>
            </a:r>
            <a:r>
              <a:rPr lang="ko-KR" altLang="en-US" dirty="0" err="1" smtClean="0"/>
              <a:t>마음챙김</a:t>
            </a:r>
            <a:r>
              <a:rPr lang="ko-KR" altLang="en-US" dirty="0" smtClean="0"/>
              <a:t> 효과 강조</a:t>
            </a:r>
            <a:r>
              <a:rPr lang="en-US" altLang="ko-KR" dirty="0" smtClean="0"/>
              <a:t>)</a:t>
            </a:r>
          </a:p>
          <a:p>
            <a:pPr>
              <a:buFont typeface="+mj-lt"/>
              <a:buAutoNum type="arabicPeriod"/>
            </a:pPr>
            <a:r>
              <a:rPr lang="en-US" altLang="ko-KR" b="1" dirty="0" smtClean="0"/>
              <a:t>Potash, J. S., et al. (2025).</a:t>
            </a:r>
            <a:r>
              <a:rPr lang="en-US" altLang="ko-KR" dirty="0" smtClean="0"/>
              <a:t> </a:t>
            </a:r>
            <a:r>
              <a:rPr lang="en-US" altLang="ko-KR" i="1" dirty="0" smtClean="0"/>
              <a:t>The Effectiveness of Art Therapy (Drawing) in Reducing Anxiety.</a:t>
            </a:r>
            <a:r>
              <a:rPr lang="en-US" altLang="ko-KR" dirty="0" smtClean="0"/>
              <a:t> (</a:t>
            </a:r>
            <a:r>
              <a:rPr lang="ko-KR" altLang="en-US" dirty="0" smtClean="0"/>
              <a:t>스케치 활동이 불안 척도</a:t>
            </a:r>
            <a:r>
              <a:rPr lang="en-US" altLang="ko-KR" dirty="0" smtClean="0"/>
              <a:t>(HAM-A)</a:t>
            </a:r>
            <a:r>
              <a:rPr lang="ko-KR" altLang="en-US" dirty="0" smtClean="0"/>
              <a:t>를 낮추는 기전 분석</a:t>
            </a:r>
            <a:r>
              <a:rPr lang="en-US" altLang="ko-KR" dirty="0" smtClean="0"/>
              <a:t>)</a:t>
            </a:r>
          </a:p>
          <a:p>
            <a:pPr>
              <a:buFont typeface="+mj-lt"/>
              <a:buAutoNum type="arabicPeriod"/>
            </a:pPr>
            <a:r>
              <a:rPr lang="en-US" altLang="ko-KR" b="1" dirty="0" smtClean="0"/>
              <a:t>Frontiers in Psychology (2025).</a:t>
            </a:r>
            <a:r>
              <a:rPr lang="en-US" altLang="ko-KR" dirty="0" smtClean="0"/>
              <a:t> </a:t>
            </a:r>
            <a:r>
              <a:rPr lang="en-US" altLang="ko-KR" i="1" dirty="0" smtClean="0"/>
              <a:t>Tactile Art Materials and Emotional Regulation.</a:t>
            </a:r>
            <a:r>
              <a:rPr lang="en-US" altLang="ko-KR" dirty="0" smtClean="0"/>
              <a:t> (</a:t>
            </a:r>
            <a:r>
              <a:rPr lang="ko-KR" altLang="en-US" dirty="0" smtClean="0"/>
              <a:t>오일 파스텔 등 질감이 풍부한 재료가 긍정적 정서에 미치는 영향</a:t>
            </a:r>
            <a:r>
              <a:rPr lang="en-US" altLang="ko-KR" dirty="0" smtClean="0"/>
              <a:t>)</a:t>
            </a:r>
          </a:p>
          <a:p>
            <a:pPr>
              <a:buFont typeface="+mj-lt"/>
              <a:buAutoNum type="arabicPeriod"/>
            </a:pPr>
            <a:r>
              <a:rPr lang="en-US" altLang="ko-KR" b="1" dirty="0" err="1" smtClean="0"/>
              <a:t>ResearchGate</a:t>
            </a:r>
            <a:r>
              <a:rPr lang="en-US" altLang="ko-KR" b="1" dirty="0" smtClean="0"/>
              <a:t> (2024).</a:t>
            </a:r>
            <a:r>
              <a:rPr lang="en-US" altLang="ko-KR" dirty="0" smtClean="0"/>
              <a:t> </a:t>
            </a:r>
            <a:r>
              <a:rPr lang="en-US" altLang="ko-KR" i="1" dirty="0" smtClean="0"/>
              <a:t>The Effect of Ink Painting Art Therapy on Emotional and Social Cognition.</a:t>
            </a:r>
            <a:r>
              <a:rPr lang="en-US" altLang="ko-KR" dirty="0" smtClean="0"/>
              <a:t> (</a:t>
            </a:r>
            <a:r>
              <a:rPr lang="ko-KR" altLang="en-US" dirty="0" smtClean="0"/>
              <a:t>수묵화 치료가 정서적 안정과 인지 기능 향상에 미치는 영향 연구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48489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607946"/>
              </p:ext>
            </p:extLst>
          </p:nvPr>
        </p:nvGraphicFramePr>
        <p:xfrm>
          <a:off x="1" y="135466"/>
          <a:ext cx="11971868" cy="661675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90799">
                  <a:extLst>
                    <a:ext uri="{9D8B030D-6E8A-4147-A177-3AD203B41FA5}">
                      <a16:colId xmlns:a16="http://schemas.microsoft.com/office/drawing/2014/main" val="1059449862"/>
                    </a:ext>
                  </a:extLst>
                </a:gridCol>
                <a:gridCol w="3522133">
                  <a:extLst>
                    <a:ext uri="{9D8B030D-6E8A-4147-A177-3AD203B41FA5}">
                      <a16:colId xmlns:a16="http://schemas.microsoft.com/office/drawing/2014/main" val="1561846400"/>
                    </a:ext>
                  </a:extLst>
                </a:gridCol>
                <a:gridCol w="4385734">
                  <a:extLst>
                    <a:ext uri="{9D8B030D-6E8A-4147-A177-3AD203B41FA5}">
                      <a16:colId xmlns:a16="http://schemas.microsoft.com/office/drawing/2014/main" val="2914842332"/>
                    </a:ext>
                  </a:extLst>
                </a:gridCol>
                <a:gridCol w="1473202">
                  <a:extLst>
                    <a:ext uri="{9D8B030D-6E8A-4147-A177-3AD203B41FA5}">
                      <a16:colId xmlns:a16="http://schemas.microsoft.com/office/drawing/2014/main" val="2534737721"/>
                    </a:ext>
                  </a:extLst>
                </a:gridCol>
              </a:tblGrid>
              <a:tr h="462881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2000" b="1" dirty="0">
                          <a:effectLst/>
                        </a:rPr>
                        <a:t>대상 그룹</a:t>
                      </a:r>
                      <a:endParaRPr lang="ko-KR" altLang="en-US" sz="2000" b="1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2133" marR="52133" marT="34755" marB="3475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2000" b="1" dirty="0">
                          <a:effectLst/>
                        </a:rPr>
                        <a:t>모델 최적화 방향 </a:t>
                      </a:r>
                      <a:r>
                        <a:rPr lang="en-US" altLang="ko-KR" sz="2000" b="1" dirty="0">
                          <a:effectLst/>
                        </a:rPr>
                        <a:t>(</a:t>
                      </a:r>
                      <a:r>
                        <a:rPr lang="en-US" sz="2000" b="1" dirty="0">
                          <a:effectLst/>
                        </a:rPr>
                        <a:t>Technical Adjustment)</a:t>
                      </a:r>
                      <a:endParaRPr lang="en-US" sz="2000" b="1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2133" marR="52133" marT="34755" marB="3475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2000" b="1" dirty="0">
                          <a:effectLst/>
                        </a:rPr>
                        <a:t>학술적 근거 및 메커니즘</a:t>
                      </a:r>
                      <a:endParaRPr lang="ko-KR" altLang="en-US" sz="2000" b="1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2133" marR="52133" marT="34755" marB="3475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2000" b="1" dirty="0">
                          <a:effectLst/>
                        </a:rPr>
                        <a:t>관련 문헌</a:t>
                      </a:r>
                      <a:endParaRPr lang="ko-KR" altLang="en-US" sz="2000" b="1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2133" marR="52133" marT="34755" marB="3475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230823"/>
                  </a:ext>
                </a:extLst>
              </a:tr>
              <a:tr h="1549644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600" b="1" dirty="0">
                          <a:effectLst/>
                        </a:rPr>
                        <a:t>우울증 환자</a:t>
                      </a:r>
                    </a:p>
                    <a:p>
                      <a:pPr algn="ctr" rtl="0"/>
                      <a:r>
                        <a:rPr lang="ko-KR" altLang="en-US" sz="1600" b="1" dirty="0">
                          <a:effectLst/>
                        </a:rPr>
                        <a:t/>
                      </a:r>
                      <a:br>
                        <a:rPr lang="ko-KR" altLang="en-US" sz="1600" b="1" dirty="0">
                          <a:effectLst/>
                        </a:rPr>
                      </a:br>
                      <a:r>
                        <a:rPr lang="en-US" altLang="ko-KR" sz="1600" b="1" dirty="0">
                          <a:effectLst/>
                        </a:rPr>
                        <a:t>(</a:t>
                      </a:r>
                      <a:r>
                        <a:rPr lang="en-US" sz="1600" b="1" dirty="0">
                          <a:effectLst/>
                        </a:rPr>
                        <a:t>Depression)</a:t>
                      </a:r>
                      <a:endParaRPr lang="en-US" sz="16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2133" marR="52133" marT="34755" marB="3475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600">
                          <a:effectLst/>
                        </a:rPr>
                        <a:t>[</a:t>
                      </a:r>
                      <a:r>
                        <a:rPr lang="ko-KR" altLang="en-US" sz="1600">
                          <a:effectLst/>
                        </a:rPr>
                        <a:t>채도 및 명도 자동 보정</a:t>
                      </a:r>
                      <a:r>
                        <a:rPr lang="en-US" altLang="ko-KR" sz="1600">
                          <a:effectLst/>
                        </a:rPr>
                        <a:t>]</a:t>
                      </a:r>
                      <a:endParaRPr lang="ko-KR" altLang="en-US" sz="1600">
                        <a:effectLst/>
                      </a:endParaRPr>
                    </a:p>
                    <a:p>
                      <a:pPr rtl="0"/>
                      <a:r>
                        <a:rPr lang="ko-KR" altLang="en-US" sz="1600">
                          <a:effectLst/>
                        </a:rPr>
                        <a:t/>
                      </a:r>
                      <a:br>
                        <a:rPr lang="ko-KR" altLang="en-US" sz="1600">
                          <a:effectLst/>
                        </a:rPr>
                      </a:br>
                      <a:r>
                        <a:rPr lang="ko-KR" altLang="en-US" sz="1600">
                          <a:effectLst/>
                        </a:rPr>
                        <a:t>사용자가 어두운 색 위주로 그리더라도 </a:t>
                      </a:r>
                      <a:r>
                        <a:rPr lang="en-US" altLang="ko-KR" sz="1600">
                          <a:effectLst/>
                        </a:rPr>
                        <a:t>AI</a:t>
                      </a:r>
                      <a:r>
                        <a:rPr lang="ko-KR" altLang="en-US" sz="1600">
                          <a:effectLst/>
                        </a:rPr>
                        <a:t>가 </a:t>
                      </a:r>
                      <a:r>
                        <a:rPr lang="en-US" altLang="ko-KR" sz="1600">
                          <a:effectLst/>
                        </a:rPr>
                        <a:t>LoRA</a:t>
                      </a:r>
                      <a:r>
                        <a:rPr lang="ko-KR" altLang="en-US" sz="1600">
                          <a:effectLst/>
                        </a:rPr>
                        <a:t>를 통해 점진적으로 따뜻하고 밝은 톤을 제안하도록 설정</a:t>
                      </a:r>
                      <a:r>
                        <a:rPr lang="en-US" altLang="ko-KR" sz="1600">
                          <a:effectLst/>
                        </a:rPr>
                        <a:t>.</a:t>
                      </a:r>
                      <a:endParaRPr lang="en-US" altLang="ko-KR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2133" marR="52133" marT="34755" marB="34755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 dirty="0">
                          <a:effectLst/>
                        </a:rPr>
                        <a:t>우울증 환자는 무채색 선호도가 높으나</a:t>
                      </a:r>
                      <a:r>
                        <a:rPr lang="en-US" altLang="ko-KR" sz="1600" dirty="0">
                          <a:effectLst/>
                        </a:rPr>
                        <a:t>, </a:t>
                      </a:r>
                      <a:r>
                        <a:rPr lang="ko-KR" altLang="en-US" sz="1600" dirty="0">
                          <a:effectLst/>
                        </a:rPr>
                        <a:t>밝은 노란색</a:t>
                      </a:r>
                      <a:r>
                        <a:rPr lang="en-US" altLang="ko-KR" sz="1600" dirty="0">
                          <a:effectLst/>
                        </a:rPr>
                        <a:t>/</a:t>
                      </a:r>
                      <a:r>
                        <a:rPr lang="ko-KR" altLang="en-US" sz="1600" dirty="0">
                          <a:effectLst/>
                        </a:rPr>
                        <a:t>분홍색 등 따뜻한 색채 노출은 세로토닌 활성화를 도와 정서적 환기</a:t>
                      </a:r>
                      <a:r>
                        <a:rPr lang="en-US" altLang="ko-KR" sz="1600" dirty="0">
                          <a:effectLst/>
                        </a:rPr>
                        <a:t>(Reframing)</a:t>
                      </a:r>
                      <a:r>
                        <a:rPr lang="ko-KR" altLang="en-US" sz="1600" dirty="0">
                          <a:effectLst/>
                        </a:rPr>
                        <a:t>를 유도함</a:t>
                      </a:r>
                      <a:r>
                        <a:rPr lang="en-US" altLang="ko-KR" sz="1600" dirty="0">
                          <a:effectLst/>
                        </a:rPr>
                        <a:t>.</a:t>
                      </a:r>
                      <a:endParaRPr lang="en-US" alt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2133" marR="52133" marT="34755" marB="34755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Hemmings (2021),</a:t>
                      </a:r>
                    </a:p>
                    <a:p>
                      <a:pPr rtl="0"/>
                      <a:r>
                        <a:rPr lang="en-US" sz="1600">
                          <a:effectLst/>
                        </a:rPr>
                        <a:t/>
                      </a:r>
                      <a:br>
                        <a:rPr lang="en-US" sz="1600">
                          <a:effectLst/>
                        </a:rPr>
                      </a:br>
                      <a:r>
                        <a:rPr lang="en-US" sz="1600">
                          <a:effectLst/>
                        </a:rPr>
                        <a:t>Cutter (2025)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2133" marR="52133" marT="34755" marB="34755" anchor="ctr"/>
                </a:tc>
                <a:extLst>
                  <a:ext uri="{0D108BD9-81ED-4DB2-BD59-A6C34878D82A}">
                    <a16:rowId xmlns:a16="http://schemas.microsoft.com/office/drawing/2014/main" val="3680821030"/>
                  </a:ext>
                </a:extLst>
              </a:tr>
              <a:tr h="1549644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600" b="1" dirty="0">
                          <a:effectLst/>
                        </a:rPr>
                        <a:t>치매</a:t>
                      </a:r>
                      <a:r>
                        <a:rPr lang="en-US" altLang="ko-KR" sz="1600" b="1" dirty="0">
                          <a:effectLst/>
                        </a:rPr>
                        <a:t>/</a:t>
                      </a:r>
                      <a:r>
                        <a:rPr lang="ko-KR" altLang="en-US" sz="1600" b="1" dirty="0" err="1">
                          <a:effectLst/>
                        </a:rPr>
                        <a:t>인지저하</a:t>
                      </a:r>
                      <a:endParaRPr lang="ko-KR" altLang="en-US" sz="1600" b="1" dirty="0">
                        <a:effectLst/>
                      </a:endParaRPr>
                    </a:p>
                    <a:p>
                      <a:pPr algn="ctr" rtl="0"/>
                      <a:r>
                        <a:rPr lang="ko-KR" altLang="en-US" sz="1600" b="1" dirty="0">
                          <a:effectLst/>
                        </a:rPr>
                        <a:t/>
                      </a:r>
                      <a:br>
                        <a:rPr lang="ko-KR" altLang="en-US" sz="1600" b="1" dirty="0">
                          <a:effectLst/>
                        </a:rPr>
                      </a:br>
                      <a:r>
                        <a:rPr lang="en-US" altLang="ko-KR" sz="1600" b="1" dirty="0">
                          <a:effectLst/>
                        </a:rPr>
                        <a:t>(Dementia)</a:t>
                      </a:r>
                      <a:endParaRPr lang="en-US" altLang="ko-KR" sz="16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2133" marR="52133" marT="34755" marB="3475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600">
                          <a:effectLst/>
                        </a:rPr>
                        <a:t>[</a:t>
                      </a:r>
                      <a:r>
                        <a:rPr lang="ko-KR" altLang="en-US" sz="1600">
                          <a:effectLst/>
                        </a:rPr>
                        <a:t>선 보존 강도</a:t>
                      </a:r>
                      <a:r>
                        <a:rPr lang="en-US" altLang="ko-KR" sz="1600">
                          <a:effectLst/>
                        </a:rPr>
                        <a:t>(Guidance Scale) </a:t>
                      </a:r>
                      <a:r>
                        <a:rPr lang="ko-KR" altLang="en-US" sz="1600">
                          <a:effectLst/>
                        </a:rPr>
                        <a:t>상향</a:t>
                      </a:r>
                      <a:r>
                        <a:rPr lang="en-US" altLang="ko-KR" sz="1600">
                          <a:effectLst/>
                        </a:rPr>
                        <a:t>]</a:t>
                      </a:r>
                      <a:endParaRPr lang="ko-KR" altLang="en-US" sz="1600">
                        <a:effectLst/>
                      </a:endParaRPr>
                    </a:p>
                    <a:p>
                      <a:pPr rtl="0"/>
                      <a:r>
                        <a:rPr lang="ko-KR" altLang="en-US" sz="1600">
                          <a:effectLst/>
                        </a:rPr>
                        <a:t/>
                      </a:r>
                      <a:br>
                        <a:rPr lang="ko-KR" altLang="en-US" sz="1600">
                          <a:effectLst/>
                        </a:rPr>
                      </a:br>
                      <a:r>
                        <a:rPr lang="ko-KR" altLang="en-US" sz="1600">
                          <a:effectLst/>
                        </a:rPr>
                        <a:t>사용자의 미세한 떨림이나 불완전한 선을 </a:t>
                      </a:r>
                      <a:r>
                        <a:rPr lang="en-US" altLang="ko-KR" sz="1600">
                          <a:effectLst/>
                        </a:rPr>
                        <a:t>PiDiNet</a:t>
                      </a:r>
                      <a:r>
                        <a:rPr lang="ko-KR" altLang="en-US" sz="1600">
                          <a:effectLst/>
                        </a:rPr>
                        <a:t>이 더 강하게 보정하고</a:t>
                      </a:r>
                      <a:r>
                        <a:rPr lang="en-US" altLang="ko-KR" sz="1600">
                          <a:effectLst/>
                        </a:rPr>
                        <a:t>, </a:t>
                      </a:r>
                      <a:r>
                        <a:rPr lang="ko-KR" altLang="en-US" sz="1600">
                          <a:effectLst/>
                        </a:rPr>
                        <a:t>형태를 명확히 구조화함</a:t>
                      </a:r>
                      <a:r>
                        <a:rPr lang="en-US" altLang="ko-KR" sz="1600">
                          <a:effectLst/>
                        </a:rPr>
                        <a:t>.</a:t>
                      </a:r>
                      <a:endParaRPr lang="en-US" altLang="ko-KR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2133" marR="52133" marT="34755" marB="34755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>
                          <a:effectLst/>
                        </a:rPr>
                        <a:t>치매 환자는 인지적 혼란을 겪으므로</a:t>
                      </a:r>
                      <a:r>
                        <a:rPr lang="en-US" altLang="ko-KR" sz="1600">
                          <a:effectLst/>
                        </a:rPr>
                        <a:t>, AI</a:t>
                      </a:r>
                      <a:r>
                        <a:rPr lang="ko-KR" altLang="en-US" sz="1600">
                          <a:effectLst/>
                        </a:rPr>
                        <a:t>가 명확한 형태</a:t>
                      </a:r>
                      <a:r>
                        <a:rPr lang="en-US" altLang="ko-KR" sz="1600">
                          <a:effectLst/>
                        </a:rPr>
                        <a:t>(Gestalt)</a:t>
                      </a:r>
                      <a:r>
                        <a:rPr lang="ko-KR" altLang="en-US" sz="1600">
                          <a:effectLst/>
                        </a:rPr>
                        <a:t>를 완성해주는 것이 자기 효능감을 높이고 인지적 부하를 줄임</a:t>
                      </a:r>
                      <a:r>
                        <a:rPr lang="en-US" altLang="ko-KR" sz="1600">
                          <a:effectLst/>
                        </a:rPr>
                        <a:t>.</a:t>
                      </a:r>
                      <a:endParaRPr lang="en-US" altLang="ko-KR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2133" marR="52133" marT="34755" marB="34755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Masika et al. (2020),</a:t>
                      </a:r>
                    </a:p>
                    <a:p>
                      <a:pPr rtl="0"/>
                      <a:r>
                        <a:rPr lang="en-US" sz="1600">
                          <a:effectLst/>
                        </a:rPr>
                        <a:t/>
                      </a:r>
                      <a:br>
                        <a:rPr lang="en-US" sz="1600">
                          <a:effectLst/>
                        </a:rPr>
                      </a:br>
                      <a:r>
                        <a:rPr lang="en-US" sz="1600">
                          <a:effectLst/>
                        </a:rPr>
                        <a:t>Lee et al. (2019)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2133" marR="52133" marT="34755" marB="34755" anchor="ctr"/>
                </a:tc>
                <a:extLst>
                  <a:ext uri="{0D108BD9-81ED-4DB2-BD59-A6C34878D82A}">
                    <a16:rowId xmlns:a16="http://schemas.microsoft.com/office/drawing/2014/main" val="3698717007"/>
                  </a:ext>
                </a:extLst>
              </a:tr>
              <a:tr h="1549644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600" b="1" dirty="0">
                          <a:effectLst/>
                        </a:rPr>
                        <a:t>불안</a:t>
                      </a:r>
                      <a:r>
                        <a:rPr lang="en-US" altLang="ko-KR" sz="1600" b="1" dirty="0">
                          <a:effectLst/>
                        </a:rPr>
                        <a:t>/</a:t>
                      </a:r>
                      <a:r>
                        <a:rPr lang="ko-KR" altLang="en-US" sz="1600" b="1" dirty="0">
                          <a:effectLst/>
                        </a:rPr>
                        <a:t>강박 장애</a:t>
                      </a:r>
                    </a:p>
                    <a:p>
                      <a:pPr algn="ctr" rtl="0"/>
                      <a:r>
                        <a:rPr lang="ko-KR" altLang="en-US" sz="1600" b="1" dirty="0">
                          <a:effectLst/>
                        </a:rPr>
                        <a:t/>
                      </a:r>
                      <a:br>
                        <a:rPr lang="ko-KR" altLang="en-US" sz="1600" b="1" dirty="0">
                          <a:effectLst/>
                        </a:rPr>
                      </a:br>
                      <a:r>
                        <a:rPr lang="en-US" altLang="ko-KR" sz="1600" b="1" dirty="0">
                          <a:effectLst/>
                        </a:rPr>
                        <a:t>(Anxiety/OCD)</a:t>
                      </a:r>
                      <a:endParaRPr lang="en-US" altLang="ko-KR" sz="16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2133" marR="52133" marT="34755" marB="3475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600">
                          <a:effectLst/>
                        </a:rPr>
                        <a:t>[</a:t>
                      </a:r>
                      <a:r>
                        <a:rPr lang="ko-KR" altLang="en-US" sz="1600">
                          <a:effectLst/>
                        </a:rPr>
                        <a:t>유동적 매체</a:t>
                      </a:r>
                      <a:r>
                        <a:rPr lang="en-US" altLang="ko-KR" sz="1600">
                          <a:effectLst/>
                        </a:rPr>
                        <a:t>(LoRA) </a:t>
                      </a:r>
                      <a:r>
                        <a:rPr lang="ko-KR" altLang="en-US" sz="1600">
                          <a:effectLst/>
                        </a:rPr>
                        <a:t>적용</a:t>
                      </a:r>
                      <a:r>
                        <a:rPr lang="en-US" altLang="ko-KR" sz="1600">
                          <a:effectLst/>
                        </a:rPr>
                        <a:t>]</a:t>
                      </a:r>
                      <a:endParaRPr lang="ko-KR" altLang="en-US" sz="1600">
                        <a:effectLst/>
                      </a:endParaRPr>
                    </a:p>
                    <a:p>
                      <a:pPr rtl="0"/>
                      <a:r>
                        <a:rPr lang="ko-KR" altLang="en-US" sz="1600">
                          <a:effectLst/>
                        </a:rPr>
                        <a:t/>
                      </a:r>
                      <a:br>
                        <a:rPr lang="ko-KR" altLang="en-US" sz="1600">
                          <a:effectLst/>
                        </a:rPr>
                      </a:br>
                      <a:r>
                        <a:rPr lang="ko-KR" altLang="en-US" sz="1600">
                          <a:effectLst/>
                        </a:rPr>
                        <a:t>날카로운 펜 선보다는 수채화처럼 경계가 모호한 화풍을 적용하여 완벽주의적 강박을 완화함</a:t>
                      </a:r>
                      <a:r>
                        <a:rPr lang="en-US" altLang="ko-KR" sz="1600">
                          <a:effectLst/>
                        </a:rPr>
                        <a:t>.</a:t>
                      </a:r>
                      <a:endParaRPr lang="en-US" altLang="ko-KR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2133" marR="52133" marT="34755" marB="34755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>
                          <a:effectLst/>
                        </a:rPr>
                        <a:t>유동적인</a:t>
                      </a:r>
                      <a:r>
                        <a:rPr lang="en-US" altLang="ko-KR" sz="1600">
                          <a:effectLst/>
                        </a:rPr>
                        <a:t>(Fluid) </a:t>
                      </a:r>
                      <a:r>
                        <a:rPr lang="ko-KR" altLang="en-US" sz="1600">
                          <a:effectLst/>
                        </a:rPr>
                        <a:t>매체는 통제 욕구를 내려놓게 하여 심리적 경직성을 이완시키고</a:t>
                      </a:r>
                      <a:r>
                        <a:rPr lang="en-US" altLang="ko-KR" sz="1600">
                          <a:effectLst/>
                        </a:rPr>
                        <a:t>, </a:t>
                      </a:r>
                      <a:r>
                        <a:rPr lang="ko-KR" altLang="en-US" sz="1600">
                          <a:effectLst/>
                        </a:rPr>
                        <a:t>감정 표출</a:t>
                      </a:r>
                      <a:r>
                        <a:rPr lang="en-US" altLang="ko-KR" sz="1600">
                          <a:effectLst/>
                        </a:rPr>
                        <a:t>(Catharsis)</a:t>
                      </a:r>
                      <a:r>
                        <a:rPr lang="ko-KR" altLang="en-US" sz="1600">
                          <a:effectLst/>
                        </a:rPr>
                        <a:t>을 촉진함</a:t>
                      </a:r>
                      <a:r>
                        <a:rPr lang="en-US" altLang="ko-KR" sz="1600">
                          <a:effectLst/>
                        </a:rPr>
                        <a:t>.</a:t>
                      </a:r>
                      <a:endParaRPr lang="en-US" altLang="ko-KR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2133" marR="52133" marT="34755" marB="34755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 sz="1600">
                          <a:effectLst/>
                        </a:rPr>
                        <a:t>Rappaport (2009),</a:t>
                      </a:r>
                    </a:p>
                    <a:p>
                      <a:pPr rtl="0"/>
                      <a:r>
                        <a:rPr lang="fr-FR" sz="1600">
                          <a:effectLst/>
                        </a:rPr>
                        <a:t/>
                      </a:r>
                      <a:br>
                        <a:rPr lang="fr-FR" sz="1600">
                          <a:effectLst/>
                        </a:rPr>
                      </a:br>
                      <a:r>
                        <a:rPr lang="fr-FR" sz="1600">
                          <a:effectLst/>
                        </a:rPr>
                        <a:t>Potash et al. (2025)</a:t>
                      </a:r>
                      <a:endParaRPr lang="fr-FR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2133" marR="52133" marT="34755" marB="34755" anchor="ctr"/>
                </a:tc>
                <a:extLst>
                  <a:ext uri="{0D108BD9-81ED-4DB2-BD59-A6C34878D82A}">
                    <a16:rowId xmlns:a16="http://schemas.microsoft.com/office/drawing/2014/main" val="4145951139"/>
                  </a:ext>
                </a:extLst>
              </a:tr>
              <a:tr h="1187388">
                <a:tc>
                  <a:txBody>
                    <a:bodyPr/>
                    <a:lstStyle/>
                    <a:p>
                      <a:pPr algn="ctr" rtl="0"/>
                      <a:r>
                        <a:rPr lang="en-US" sz="1600" b="1" dirty="0">
                          <a:effectLst/>
                        </a:rPr>
                        <a:t>ADHD/</a:t>
                      </a:r>
                      <a:r>
                        <a:rPr lang="ko-KR" altLang="en-US" sz="1600" b="1" dirty="0">
                          <a:effectLst/>
                        </a:rPr>
                        <a:t>주의력 결핍</a:t>
                      </a:r>
                      <a:endParaRPr lang="ko-KR" altLang="en-US" sz="16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2133" marR="52133" marT="34755" marB="3475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600">
                          <a:effectLst/>
                        </a:rPr>
                        <a:t>[</a:t>
                      </a:r>
                      <a:r>
                        <a:rPr lang="ko-KR" altLang="en-US" sz="1600">
                          <a:effectLst/>
                        </a:rPr>
                        <a:t>인페인팅 단계 간소화</a:t>
                      </a:r>
                      <a:r>
                        <a:rPr lang="en-US" altLang="ko-KR" sz="1600">
                          <a:effectLst/>
                        </a:rPr>
                        <a:t>]</a:t>
                      </a:r>
                      <a:endParaRPr lang="ko-KR" altLang="en-US" sz="1600">
                        <a:effectLst/>
                      </a:endParaRPr>
                    </a:p>
                    <a:p>
                      <a:pPr rtl="0"/>
                      <a:r>
                        <a:rPr lang="ko-KR" altLang="en-US" sz="1600">
                          <a:effectLst/>
                        </a:rPr>
                        <a:t/>
                      </a:r>
                      <a:br>
                        <a:rPr lang="ko-KR" altLang="en-US" sz="1600">
                          <a:effectLst/>
                        </a:rPr>
                      </a:br>
                      <a:r>
                        <a:rPr lang="ko-KR" altLang="en-US" sz="1600">
                          <a:effectLst/>
                        </a:rPr>
                        <a:t>수정 과정을 짧게 가져가고 즉각적인 시각적 보상을 제공하여 성취감 주기를 단축함</a:t>
                      </a:r>
                      <a:r>
                        <a:rPr lang="en-US" altLang="ko-KR" sz="1600">
                          <a:effectLst/>
                        </a:rPr>
                        <a:t>.</a:t>
                      </a:r>
                      <a:endParaRPr lang="en-US" altLang="ko-KR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2133" marR="52133" marT="34755" marB="34755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>
                          <a:effectLst/>
                        </a:rPr>
                        <a:t>즉각적인 피드백 루프는 도파민 체계가 취약한 대상에게 지속적인 흥미를 유발하고 작업 기억력</a:t>
                      </a:r>
                      <a:r>
                        <a:rPr lang="en-US" altLang="ko-KR" sz="1600">
                          <a:effectLst/>
                        </a:rPr>
                        <a:t>(Working Memory)</a:t>
                      </a:r>
                      <a:r>
                        <a:rPr lang="ko-KR" altLang="en-US" sz="1600">
                          <a:effectLst/>
                        </a:rPr>
                        <a:t>을 보완함</a:t>
                      </a:r>
                      <a:r>
                        <a:rPr lang="en-US" altLang="ko-KR" sz="1600">
                          <a:effectLst/>
                        </a:rPr>
                        <a:t>.</a:t>
                      </a:r>
                      <a:endParaRPr lang="en-US" altLang="ko-KR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2133" marR="52133" marT="34755" marB="34755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effectLst/>
                        </a:rPr>
                        <a:t>Frontiers in Psychology (2025)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2133" marR="52133" marT="34755" marB="34755" anchor="ctr"/>
                </a:tc>
                <a:extLst>
                  <a:ext uri="{0D108BD9-81ED-4DB2-BD59-A6C34878D82A}">
                    <a16:rowId xmlns:a16="http://schemas.microsoft.com/office/drawing/2014/main" val="28628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9782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55600" y="571143"/>
            <a:ext cx="116332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dirty="0" err="1" smtClean="0"/>
              <a:t>대상군별</a:t>
            </a:r>
            <a:r>
              <a:rPr lang="ko-KR" altLang="en-US" sz="2400" b="1" dirty="0" smtClean="0"/>
              <a:t> 화풍의 모델 최적화 방향 근거 문헌 리스트</a:t>
            </a:r>
            <a:endParaRPr lang="en-US" altLang="ko-KR" sz="2400" b="1" dirty="0" smtClean="0"/>
          </a:p>
          <a:p>
            <a:endParaRPr lang="ko-KR" altLang="en-US" b="1" dirty="0" smtClean="0"/>
          </a:p>
          <a:p>
            <a:pPr>
              <a:buFont typeface="+mj-lt"/>
              <a:buAutoNum type="arabicPeriod"/>
            </a:pPr>
            <a:r>
              <a:rPr lang="en-US" altLang="ko-KR" b="1" dirty="0" err="1" smtClean="0"/>
              <a:t>Masika</a:t>
            </a:r>
            <a:r>
              <a:rPr lang="en-US" altLang="ko-KR" b="1" dirty="0" smtClean="0"/>
              <a:t>, G. M., et al. (2020).</a:t>
            </a:r>
            <a:r>
              <a:rPr lang="en-US" altLang="ko-KR" dirty="0" smtClean="0"/>
              <a:t> </a:t>
            </a:r>
            <a:r>
              <a:rPr lang="en-US" altLang="ko-KR" i="1" dirty="0" smtClean="0"/>
              <a:t>Visual art therapy as a treatment option for cognitive decline among older adults.</a:t>
            </a:r>
            <a:r>
              <a:rPr lang="en-US" altLang="ko-KR" dirty="0" smtClean="0"/>
              <a:t> (Journal of Advanced Nursing): </a:t>
            </a:r>
            <a:r>
              <a:rPr lang="ko-KR" altLang="en-US" dirty="0" smtClean="0"/>
              <a:t>치매 환자에게 명확한 시각적 자극과 형태 완성의 중요성 강조</a:t>
            </a:r>
            <a:r>
              <a:rPr lang="en-US" altLang="ko-KR" dirty="0" smtClean="0"/>
              <a:t>.</a:t>
            </a:r>
          </a:p>
          <a:p>
            <a:pPr>
              <a:buFont typeface="+mj-lt"/>
              <a:buAutoNum type="arabicPeriod"/>
            </a:pPr>
            <a:endParaRPr lang="en-US" altLang="ko-KR" dirty="0" smtClean="0"/>
          </a:p>
          <a:p>
            <a:pPr>
              <a:buFont typeface="+mj-lt"/>
              <a:buAutoNum type="arabicPeriod"/>
            </a:pPr>
            <a:r>
              <a:rPr lang="en-US" altLang="ko-KR" b="1" dirty="0" smtClean="0"/>
              <a:t>Potash, J. S., et al. (2025).</a:t>
            </a:r>
            <a:r>
              <a:rPr lang="en-US" altLang="ko-KR" dirty="0" smtClean="0"/>
              <a:t> </a:t>
            </a:r>
            <a:r>
              <a:rPr lang="en-US" altLang="ko-KR" i="1" dirty="0" smtClean="0"/>
              <a:t>The Effectiveness of Art Therapy in Reducing Anxiety.</a:t>
            </a:r>
            <a:r>
              <a:rPr lang="en-US" altLang="ko-KR" dirty="0" smtClean="0"/>
              <a:t> (Journal of Clinical Psychology): </a:t>
            </a:r>
            <a:r>
              <a:rPr lang="ko-KR" altLang="en-US" dirty="0" smtClean="0"/>
              <a:t>드로잉 활동이 </a:t>
            </a:r>
            <a:r>
              <a:rPr lang="ko-KR" altLang="en-US" dirty="0" err="1" smtClean="0"/>
              <a:t>전전두엽</a:t>
            </a:r>
            <a:r>
              <a:rPr lang="ko-KR" altLang="en-US" dirty="0" smtClean="0"/>
              <a:t> 피질을 자극하여 불안을 조절하는 기전 설명</a:t>
            </a:r>
            <a:r>
              <a:rPr lang="en-US" altLang="ko-KR" dirty="0" smtClean="0"/>
              <a:t>.</a:t>
            </a:r>
          </a:p>
          <a:p>
            <a:pPr>
              <a:buFont typeface="+mj-lt"/>
              <a:buAutoNum type="arabicPeriod"/>
            </a:pPr>
            <a:endParaRPr lang="en-US" altLang="ko-KR" dirty="0" smtClean="0"/>
          </a:p>
          <a:p>
            <a:pPr>
              <a:buFont typeface="+mj-lt"/>
              <a:buAutoNum type="arabicPeriod"/>
            </a:pPr>
            <a:r>
              <a:rPr lang="en-US" altLang="ko-KR" b="1" dirty="0" smtClean="0"/>
              <a:t>Lee, R., et al. (2019).</a:t>
            </a:r>
            <a:r>
              <a:rPr lang="en-US" altLang="ko-KR" dirty="0" smtClean="0"/>
              <a:t> </a:t>
            </a:r>
            <a:r>
              <a:rPr lang="en-US" altLang="ko-KR" i="1" dirty="0" smtClean="0"/>
              <a:t>Art therapy for the prevention of cognitive decline.</a:t>
            </a:r>
            <a:r>
              <a:rPr lang="en-US" altLang="ko-KR" dirty="0" smtClean="0"/>
              <a:t> (The Arts in Psychotherapy): </a:t>
            </a:r>
            <a:r>
              <a:rPr lang="ko-KR" altLang="en-US" dirty="0" smtClean="0"/>
              <a:t>인지 저하 예방을 위한 미술 활동의 구조화와 자기효능감의 상관관계 연구</a:t>
            </a:r>
            <a:r>
              <a:rPr lang="en-US" altLang="ko-KR" dirty="0" smtClean="0"/>
              <a:t>.</a:t>
            </a:r>
          </a:p>
          <a:p>
            <a:pPr>
              <a:buFont typeface="+mj-lt"/>
              <a:buAutoNum type="arabicPeriod"/>
            </a:pPr>
            <a:endParaRPr lang="en-US" altLang="ko-KR" dirty="0" smtClean="0"/>
          </a:p>
          <a:p>
            <a:pPr>
              <a:buFont typeface="+mj-lt"/>
              <a:buAutoNum type="arabicPeriod"/>
            </a:pPr>
            <a:r>
              <a:rPr lang="en-US" altLang="ko-KR" b="1" dirty="0" smtClean="0"/>
              <a:t>Cutter, N. (2025).</a:t>
            </a:r>
            <a:r>
              <a:rPr lang="en-US" altLang="ko-KR" dirty="0" smtClean="0"/>
              <a:t> </a:t>
            </a:r>
            <a:r>
              <a:rPr lang="en-US" altLang="ko-KR" i="1" dirty="0" smtClean="0"/>
              <a:t>Color Psychology in Mental Health Treatment.</a:t>
            </a:r>
            <a:r>
              <a:rPr lang="en-US" altLang="ko-KR" dirty="0" smtClean="0"/>
              <a:t> (Insightful Counselling): </a:t>
            </a:r>
            <a:r>
              <a:rPr lang="ko-KR" altLang="en-US" dirty="0" smtClean="0"/>
              <a:t>색채 대비와 명도가 우울증 환자의 기분 전환</a:t>
            </a:r>
            <a:r>
              <a:rPr lang="en-US" altLang="ko-KR" dirty="0" smtClean="0"/>
              <a:t>(Mood lifting)</a:t>
            </a:r>
            <a:r>
              <a:rPr lang="ko-KR" altLang="en-US" dirty="0" smtClean="0"/>
              <a:t>에 미치는 임상적 효과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71397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024845"/>
              </p:ext>
            </p:extLst>
          </p:nvPr>
        </p:nvGraphicFramePr>
        <p:xfrm>
          <a:off x="321732" y="1557866"/>
          <a:ext cx="11565467" cy="455501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8135">
                  <a:extLst>
                    <a:ext uri="{9D8B030D-6E8A-4147-A177-3AD203B41FA5}">
                      <a16:colId xmlns:a16="http://schemas.microsoft.com/office/drawing/2014/main" val="2500786959"/>
                    </a:ext>
                  </a:extLst>
                </a:gridCol>
                <a:gridCol w="5009200">
                  <a:extLst>
                    <a:ext uri="{9D8B030D-6E8A-4147-A177-3AD203B41FA5}">
                      <a16:colId xmlns:a16="http://schemas.microsoft.com/office/drawing/2014/main" val="3838750571"/>
                    </a:ext>
                  </a:extLst>
                </a:gridCol>
                <a:gridCol w="4538132">
                  <a:extLst>
                    <a:ext uri="{9D8B030D-6E8A-4147-A177-3AD203B41FA5}">
                      <a16:colId xmlns:a16="http://schemas.microsoft.com/office/drawing/2014/main" val="3075974326"/>
                    </a:ext>
                  </a:extLst>
                </a:gridCol>
              </a:tblGrid>
              <a:tr h="1262233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2400" b="1" dirty="0">
                          <a:effectLst/>
                        </a:rPr>
                        <a:t>구분</a:t>
                      </a:r>
                      <a:endParaRPr lang="ko-KR" altLang="en-US" sz="24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2400" b="1" dirty="0" err="1">
                          <a:effectLst/>
                        </a:rPr>
                        <a:t>클라우드</a:t>
                      </a:r>
                      <a:r>
                        <a:rPr lang="ko-KR" altLang="en-US" sz="2400" b="1" dirty="0">
                          <a:effectLst/>
                        </a:rPr>
                        <a:t> 웹 버전 </a:t>
                      </a:r>
                      <a:endParaRPr lang="en-US" altLang="ko-KR" sz="2400" b="1" dirty="0" smtClean="0">
                        <a:effectLst/>
                      </a:endParaRPr>
                    </a:p>
                    <a:p>
                      <a:pPr algn="ctr" rtl="0"/>
                      <a:r>
                        <a:rPr lang="en-US" altLang="ko-KR" sz="2400" b="1" dirty="0" smtClean="0">
                          <a:effectLst/>
                        </a:rPr>
                        <a:t>(</a:t>
                      </a:r>
                      <a:r>
                        <a:rPr lang="en-US" altLang="ko-KR" sz="2400" b="1" dirty="0">
                          <a:effectLst/>
                        </a:rPr>
                        <a:t>B2C/</a:t>
                      </a:r>
                      <a:r>
                        <a:rPr lang="ko-KR" altLang="en-US" sz="2400" b="1" dirty="0">
                          <a:effectLst/>
                        </a:rPr>
                        <a:t>체험용</a:t>
                      </a:r>
                      <a:r>
                        <a:rPr lang="en-US" altLang="ko-KR" sz="2400" b="1" dirty="0">
                          <a:effectLst/>
                        </a:rPr>
                        <a:t>)</a:t>
                      </a:r>
                      <a:endParaRPr lang="ko-KR" altLang="en-US" sz="24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2400" b="1" dirty="0">
                          <a:effectLst/>
                        </a:rPr>
                        <a:t>로컬 서버 </a:t>
                      </a:r>
                      <a:r>
                        <a:rPr lang="ko-KR" altLang="en-US" sz="2400" b="1" dirty="0" err="1">
                          <a:effectLst/>
                        </a:rPr>
                        <a:t>설치형</a:t>
                      </a:r>
                      <a:r>
                        <a:rPr lang="ko-KR" altLang="en-US" sz="2400" b="1" dirty="0">
                          <a:effectLst/>
                        </a:rPr>
                        <a:t> </a:t>
                      </a:r>
                      <a:endParaRPr lang="en-US" altLang="ko-KR" sz="2400" b="1" dirty="0" smtClean="0">
                        <a:effectLst/>
                      </a:endParaRPr>
                    </a:p>
                    <a:p>
                      <a:pPr algn="ctr" rtl="0"/>
                      <a:r>
                        <a:rPr lang="en-US" altLang="ko-KR" sz="2400" b="1" dirty="0" smtClean="0">
                          <a:effectLst/>
                        </a:rPr>
                        <a:t>(</a:t>
                      </a:r>
                      <a:r>
                        <a:rPr lang="en-US" altLang="ko-KR" sz="2400" b="1" dirty="0">
                          <a:effectLst/>
                        </a:rPr>
                        <a:t>B2B/</a:t>
                      </a:r>
                      <a:r>
                        <a:rPr lang="ko-KR" altLang="en-US" sz="2400" b="1" dirty="0">
                          <a:effectLst/>
                        </a:rPr>
                        <a:t>전문가용</a:t>
                      </a:r>
                      <a:r>
                        <a:rPr lang="en-US" altLang="ko-KR" sz="2400" b="1" dirty="0">
                          <a:effectLst/>
                        </a:rPr>
                        <a:t>)</a:t>
                      </a:r>
                      <a:endParaRPr lang="ko-KR" altLang="en-US" sz="24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498358"/>
                  </a:ext>
                </a:extLst>
              </a:tr>
              <a:tr h="1262233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2000" dirty="0">
                          <a:effectLst/>
                        </a:rPr>
                        <a:t>제공 형태</a:t>
                      </a:r>
                      <a:endParaRPr lang="ko-KR" alt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2000" dirty="0" err="1">
                          <a:effectLst/>
                        </a:rPr>
                        <a:t>허깅페이스</a:t>
                      </a:r>
                      <a:r>
                        <a:rPr lang="ko-KR" altLang="en-US" sz="2000" dirty="0">
                          <a:effectLst/>
                        </a:rPr>
                        <a:t> 기반 웹 </a:t>
                      </a:r>
                      <a:r>
                        <a:rPr lang="ko-KR" altLang="en-US" sz="2000" dirty="0" err="1">
                          <a:effectLst/>
                        </a:rPr>
                        <a:t>애플리리케이션</a:t>
                      </a:r>
                      <a:endParaRPr lang="ko-KR" alt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2000" dirty="0">
                          <a:effectLst/>
                        </a:rPr>
                        <a:t>병원</a:t>
                      </a:r>
                      <a:r>
                        <a:rPr lang="en-US" altLang="ko-KR" sz="2000" dirty="0">
                          <a:effectLst/>
                        </a:rPr>
                        <a:t>/</a:t>
                      </a:r>
                      <a:r>
                        <a:rPr lang="ko-KR" altLang="en-US" sz="2000" dirty="0">
                          <a:effectLst/>
                        </a:rPr>
                        <a:t>상담소 내 독립 서버 설치</a:t>
                      </a:r>
                      <a:endParaRPr lang="ko-KR" alt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940558216"/>
                  </a:ext>
                </a:extLst>
              </a:tr>
              <a:tr h="768316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2000" dirty="0">
                          <a:effectLst/>
                        </a:rPr>
                        <a:t>접속 방식</a:t>
                      </a:r>
                      <a:endParaRPr lang="ko-KR" alt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2000" dirty="0">
                          <a:effectLst/>
                        </a:rPr>
                        <a:t>전용 </a:t>
                      </a:r>
                      <a:r>
                        <a:rPr lang="en-US" altLang="ko-KR" sz="2000" dirty="0">
                          <a:effectLst/>
                        </a:rPr>
                        <a:t>URL </a:t>
                      </a:r>
                      <a:r>
                        <a:rPr lang="ko-KR" altLang="en-US" sz="2000" dirty="0">
                          <a:effectLst/>
                        </a:rPr>
                        <a:t>접속 </a:t>
                      </a:r>
                      <a:r>
                        <a:rPr lang="en-US" altLang="ko-KR" sz="2000" dirty="0">
                          <a:effectLst/>
                        </a:rPr>
                        <a:t>(</a:t>
                      </a:r>
                      <a:r>
                        <a:rPr lang="ko-KR" altLang="en-US" sz="2000" dirty="0">
                          <a:effectLst/>
                        </a:rPr>
                        <a:t>설치 없음</a:t>
                      </a:r>
                      <a:r>
                        <a:rPr lang="en-US" altLang="ko-KR" sz="2000" dirty="0">
                          <a:effectLst/>
                        </a:rPr>
                        <a:t>)</a:t>
                      </a:r>
                      <a:endParaRPr lang="en-US" altLang="ko-KR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2000">
                          <a:effectLst/>
                        </a:rPr>
                        <a:t>내부 인트라넷 기반 접속</a:t>
                      </a:r>
                      <a:endParaRPr lang="ko-KR" alt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54552492"/>
                  </a:ext>
                </a:extLst>
              </a:tr>
              <a:tr h="1262233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2000" dirty="0">
                          <a:effectLst/>
                        </a:rPr>
                        <a:t>핵심 장점</a:t>
                      </a:r>
                      <a:endParaRPr lang="ko-KR" alt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2000" dirty="0">
                          <a:effectLst/>
                        </a:rPr>
                        <a:t>접근성 및 편의성 극대화</a:t>
                      </a:r>
                      <a:endParaRPr lang="ko-KR" alt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2000" dirty="0">
                          <a:effectLst/>
                        </a:rPr>
                        <a:t>의료 데이터 보안 및 오프라인 구동</a:t>
                      </a:r>
                      <a:endParaRPr lang="ko-KR" alt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370051437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76617" y="162467"/>
            <a:ext cx="15616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/>
              <a:t>4.2.3 </a:t>
            </a:r>
            <a:r>
              <a:rPr lang="ko-KR" altLang="en-US" b="1" dirty="0" smtClean="0"/>
              <a:t>상용화</a:t>
            </a:r>
            <a:r>
              <a:rPr lang="ko-KR" altLang="en-US" dirty="0" smtClean="0"/>
              <a:t> 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4142094" y="531799"/>
            <a:ext cx="42399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600" b="1" dirty="0" smtClean="0"/>
              <a:t>서비스 제공 방식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199687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20133" y="423040"/>
            <a:ext cx="115824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200" b="1" dirty="0"/>
              <a:t>[</a:t>
            </a:r>
            <a:r>
              <a:rPr lang="en-US" altLang="ko-KR" sz="3200" b="1" dirty="0" smtClean="0"/>
              <a:t> </a:t>
            </a:r>
            <a:r>
              <a:rPr lang="ko-KR" altLang="en-US" sz="3200" b="1" dirty="0" smtClean="0"/>
              <a:t>치료적 가치 </a:t>
            </a:r>
            <a:r>
              <a:rPr lang="en-US" altLang="ko-KR" sz="3200" b="1" dirty="0" smtClean="0"/>
              <a:t>(Therapeutic Impact)  ]</a:t>
            </a:r>
          </a:p>
          <a:p>
            <a:r>
              <a:rPr lang="ko-KR" altLang="en-US" sz="3200" dirty="0" smtClean="0"/>
              <a:t>논문은 </a:t>
            </a:r>
            <a:r>
              <a:rPr lang="en-US" altLang="ko-KR" sz="3200" dirty="0" smtClean="0"/>
              <a:t>AI</a:t>
            </a:r>
            <a:r>
              <a:rPr lang="ko-KR" altLang="en-US" sz="3200" dirty="0" smtClean="0"/>
              <a:t>를 활용했을 때 세 가지 긍정적 효과를 강조합니다</a:t>
            </a:r>
            <a:r>
              <a:rPr lang="en-US" altLang="ko-KR" sz="3200" dirty="0" smtClean="0"/>
              <a:t>.</a:t>
            </a:r>
          </a:p>
          <a:p>
            <a:endParaRPr lang="en-US" altLang="ko-KR" sz="32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3200" b="1" dirty="0" smtClean="0"/>
              <a:t>Accessibility (</a:t>
            </a:r>
            <a:r>
              <a:rPr lang="ko-KR" altLang="en-US" sz="3200" b="1" dirty="0" smtClean="0"/>
              <a:t>접근성</a:t>
            </a:r>
            <a:r>
              <a:rPr lang="en-US" altLang="ko-KR" sz="3200" b="1" dirty="0" smtClean="0"/>
              <a:t>):</a:t>
            </a:r>
            <a:r>
              <a:rPr lang="ko-KR" altLang="en-US" sz="3200" dirty="0" smtClean="0"/>
              <a:t> 신체적 제약이나 기술적 부족함이 있는 사람도 예술 창작에 참여 가능</a:t>
            </a:r>
            <a:r>
              <a:rPr lang="en-US" altLang="ko-KR" sz="32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32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3200" b="1" dirty="0" smtClean="0"/>
              <a:t>Empowerment (</a:t>
            </a:r>
            <a:r>
              <a:rPr lang="ko-KR" altLang="en-US" sz="3200" b="1" dirty="0" smtClean="0"/>
              <a:t>권능 부여</a:t>
            </a:r>
            <a:r>
              <a:rPr lang="en-US" altLang="ko-KR" sz="3200" b="1" dirty="0" smtClean="0"/>
              <a:t>):</a:t>
            </a:r>
            <a:r>
              <a:rPr lang="ko-KR" altLang="en-US" sz="3200" dirty="0" smtClean="0"/>
              <a:t> </a:t>
            </a:r>
            <a:r>
              <a:rPr lang="en-US" altLang="ko-KR" sz="3200" dirty="0" smtClean="0"/>
              <a:t>AI</a:t>
            </a:r>
            <a:r>
              <a:rPr lang="ko-KR" altLang="en-US" sz="3200" dirty="0" smtClean="0"/>
              <a:t>가 다 그려주는 것이 아니라 환자가 </a:t>
            </a:r>
            <a:r>
              <a:rPr lang="en-US" altLang="ko-KR" sz="3200" dirty="0" smtClean="0"/>
              <a:t>'</a:t>
            </a:r>
            <a:r>
              <a:rPr lang="ko-KR" altLang="en-US" sz="3200" dirty="0" smtClean="0"/>
              <a:t>가이드</a:t>
            </a:r>
            <a:r>
              <a:rPr lang="en-US" altLang="ko-KR" sz="3200" dirty="0" smtClean="0"/>
              <a:t>'</a:t>
            </a:r>
            <a:r>
              <a:rPr lang="ko-KR" altLang="en-US" sz="3200" dirty="0" smtClean="0"/>
              <a:t>를 제공하고 수정하기 때문에 창작의 주인이 환자임을 명시</a:t>
            </a:r>
            <a:r>
              <a:rPr lang="en-US" altLang="ko-KR" sz="32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32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3200" b="1" dirty="0" smtClean="0"/>
              <a:t>Personalization (</a:t>
            </a:r>
            <a:r>
              <a:rPr lang="ko-KR" altLang="en-US" sz="3200" b="1" dirty="0" smtClean="0"/>
              <a:t>개인화</a:t>
            </a:r>
            <a:r>
              <a:rPr lang="en-US" altLang="ko-KR" sz="3200" b="1" dirty="0" smtClean="0"/>
              <a:t>):</a:t>
            </a:r>
            <a:r>
              <a:rPr lang="ko-KR" altLang="en-US" sz="3200" dirty="0" smtClean="0"/>
              <a:t> 환자의 내면세계를 가장 잘 반영하는 이미지로 정밀하게 조정 가능</a:t>
            </a:r>
            <a:r>
              <a:rPr lang="en-US" altLang="ko-KR" sz="3200" dirty="0" smtClean="0"/>
              <a:t>.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2002895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87867" y="643467"/>
            <a:ext cx="1161626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 smtClean="0"/>
              <a:t>[ </a:t>
            </a:r>
            <a:r>
              <a:rPr lang="ko-KR" altLang="en-US" sz="2400" b="1" dirty="0" smtClean="0"/>
              <a:t>한계점 및 윤리적 고려사항 </a:t>
            </a:r>
            <a:r>
              <a:rPr lang="en-US" altLang="ko-KR" sz="2400" b="1" dirty="0" smtClean="0"/>
              <a:t>(Challenges) 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400" b="1" dirty="0" smtClean="0"/>
              <a:t>데이터 프라이버시</a:t>
            </a:r>
            <a:r>
              <a:rPr lang="en-US" altLang="ko-KR" sz="2400" b="1" dirty="0" smtClean="0"/>
              <a:t>:</a:t>
            </a:r>
            <a:r>
              <a:rPr lang="ko-KR" altLang="en-US" sz="2400" dirty="0" smtClean="0"/>
              <a:t> 환자의 민감한 심리 데이터가 유출되지 않아야 함 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로컬 배포의 이유</a:t>
            </a:r>
            <a:r>
              <a:rPr lang="en-US" altLang="ko-KR" sz="2400" dirty="0" smtClean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400" b="1" dirty="0" smtClean="0"/>
              <a:t>AI </a:t>
            </a:r>
            <a:r>
              <a:rPr lang="ko-KR" altLang="en-US" sz="2400" b="1" dirty="0" smtClean="0"/>
              <a:t>의존성</a:t>
            </a:r>
            <a:r>
              <a:rPr lang="en-US" altLang="ko-KR" sz="2400" b="1" dirty="0" smtClean="0"/>
              <a:t>: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AI</a:t>
            </a:r>
            <a:r>
              <a:rPr lang="ko-KR" altLang="en-US" sz="2400" dirty="0" smtClean="0"/>
              <a:t>가 너무 완벽하게 그려주면 환자가 소외감을 느낄 수 있으므로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적절한 </a:t>
            </a:r>
            <a:r>
              <a:rPr lang="en-US" altLang="ko-KR" sz="2400" dirty="0" smtClean="0"/>
              <a:t>'</a:t>
            </a:r>
            <a:r>
              <a:rPr lang="ko-KR" altLang="en-US" sz="2400" dirty="0" smtClean="0"/>
              <a:t>보조</a:t>
            </a:r>
            <a:r>
              <a:rPr lang="en-US" altLang="ko-KR" sz="2400" dirty="0" smtClean="0"/>
              <a:t>' </a:t>
            </a:r>
            <a:r>
              <a:rPr lang="ko-KR" altLang="en-US" sz="2400" dirty="0" smtClean="0"/>
              <a:t>수준을 유지하는 것이 중요함</a:t>
            </a:r>
            <a:r>
              <a:rPr lang="en-US" altLang="ko-KR" sz="24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400" b="1" dirty="0" smtClean="0"/>
              <a:t>치료사의 역할</a:t>
            </a:r>
            <a:r>
              <a:rPr lang="en-US" altLang="ko-KR" sz="2400" b="1" dirty="0" smtClean="0"/>
              <a:t>: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AI</a:t>
            </a:r>
            <a:r>
              <a:rPr lang="ko-KR" altLang="en-US" sz="2400" dirty="0" smtClean="0"/>
              <a:t>는 도구일 뿐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이를 해석하고 상담으로 연결하는 치료사의 존재가 반드시 필요함</a:t>
            </a:r>
            <a:r>
              <a:rPr lang="en-US" altLang="ko-KR" sz="2400" dirty="0" smtClean="0"/>
              <a:t>.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9121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5875</TotalTime>
  <Words>1286</Words>
  <Application>Microsoft Office PowerPoint</Application>
  <PresentationFormat>와이드스크린</PresentationFormat>
  <Paragraphs>236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Google Sans Text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참고문헌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asia</dc:creator>
  <cp:lastModifiedBy>asia</cp:lastModifiedBy>
  <cp:revision>8</cp:revision>
  <dcterms:created xsi:type="dcterms:W3CDTF">2026-02-19T02:00:29Z</dcterms:created>
  <dcterms:modified xsi:type="dcterms:W3CDTF">2026-02-23T06:14:20Z</dcterms:modified>
</cp:coreProperties>
</file>